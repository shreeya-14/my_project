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 i="0" u="none" strike="noStrike">
                <a:solidFill>
                  <a:srgbClr val="153A2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53A2B"/>
                </a:solidFill>
                <a:latin typeface="Calibri"/>
              </a:rPr>
              <a:t>Nearest-Sensor Query Time</a:t>
            </a:r>
            <a:endParaRPr/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Indexed (KD-Tree)</c:v>
                </c:pt>
              </c:strCache>
            </c:strRef>
          </c:tx>
          <c:spPr bwMode="auto">
            <a:prstGeom prst="rect">
              <a:avLst/>
            </a:prstGeom>
            <a:solidFill>
              <a:srgbClr val="153A2B"/>
            </a:solidFill>
            <a:ln w="31750" cap="flat">
              <a:solidFill>
                <a:srgbClr val="153A2B"/>
              </a:solidFill>
              <a:prstDash val="solid"/>
              <a:round/>
            </a:ln>
            <a:effectLst/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153A2B"/>
              </a:solidFill>
              <a:ln w="9525" cap="flat">
                <a:solidFill>
                  <a:srgbClr val="153A2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Sheet1!$A$2:$A$5</c:f>
              <c:multiLvlStrCache>
                <c:ptCount val="4"/>
                <c:lvl>
                  <c:pt idx="0">
                    <c:v>n=60</c:v>
                  </c:pt>
                  <c:pt idx="1">
                    <c:v>n=1,000</c:v>
                  </c:pt>
                  <c:pt idx="2">
                    <c:v>n=5,000</c:v>
                  </c:pt>
                  <c:pt idx="3">
                    <c:v>n=10,000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4.68</c:v>
                </c:pt>
                <c:pt idx="1">
                  <c:v>7</c:v>
                </c:pt>
                <c:pt idx="2">
                  <c:v>7.6</c:v>
                </c:pt>
                <c:pt idx="3">
                  <c:v>14.63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Linear scan</c:v>
                </c:pt>
              </c:strCache>
            </c:strRef>
          </c:tx>
          <c:spPr bwMode="auto">
            <a:prstGeom prst="rect">
              <a:avLst/>
            </a:prstGeom>
            <a:solidFill>
              <a:srgbClr val="C98A3D"/>
            </a:solidFill>
            <a:ln w="31750" cap="flat">
              <a:solidFill>
                <a:srgbClr val="C98A3D"/>
              </a:solidFill>
              <a:prstDash val="solid"/>
              <a:round/>
            </a:ln>
            <a:effectLst/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C98A3D"/>
              </a:solidFill>
              <a:ln w="9525" cap="flat">
                <a:solidFill>
                  <a:srgbClr val="C98A3D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Sheet1!$A$2:$A$5</c:f>
              <c:multiLvlStrCache>
                <c:ptCount val="4"/>
                <c:lvl>
                  <c:pt idx="0">
                    <c:v>n=60</c:v>
                  </c:pt>
                  <c:pt idx="1">
                    <c:v>n=1,000</c:v>
                  </c:pt>
                  <c:pt idx="2">
                    <c:v>n=5,000</c:v>
                  </c:pt>
                  <c:pt idx="3">
                    <c:v>n=10,000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6.69</c:v>
                </c:pt>
                <c:pt idx="1">
                  <c:v>119.8</c:v>
                </c:pt>
                <c:pt idx="2">
                  <c:v>579.27</c:v>
                </c:pt>
                <c:pt idx="3">
                  <c:v>1161.3</c:v>
                </c:pt>
              </c:numCache>
            </c:numRef>
          </c:val>
          <c:smooth val="0"/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0"/>
          <c:txPr>
            <a:bodyPr/>
            <a:lstStyle/>
            <a:p>
              <a:pPr>
                <a:defRPr sz="1200" b="0" i="0" u="none" strike="noStrike">
                  <a:solidFill>
                    <a:srgbClr val="000000"/>
                  </a:solidFill>
                  <a:latin typeface="Arial"/>
                </a:defRPr>
              </a:pPr>
              <a:endParaRPr/>
            </a:p>
          </c:txPr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165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9525" cap="flat">
              <a:solidFill>
                <a:srgbClr val="D9E3D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1655A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1655A"/>
                    </a:solidFill>
                    <a:latin typeface="Arial"/>
                  </a:rPr>
                  <a:t>microseconds / query</a:t>
                </a:r>
                <a:endParaRPr/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165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6241C"/>
              </a:solidFill>
            </a:defRPr>
          </a:pPr>
          <a:endParaRPr lang="en-US"/>
        </a:p>
      </c:txPr>
    </c:legend>
    <c:plotVisOnly val="1"/>
    <c:dispBlanksAs val="span"/>
    <c:showDLblsOverMax val="0"/>
  </c:chart>
  <c:spPr bwMode="auto">
    <a:xfrm rot="0">
      <a:off x="457200" y="1463040"/>
      <a:ext cx="5257800" cy="2514600"/>
    </a:xfrm>
    <a:prstGeom prst="rect">
      <a:avLst/>
    </a:prstGeom>
    <a:noFill/>
    <a:ln>
      <a:noFill/>
    </a:ln>
    <a:effectLst/>
  </c:sp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 i="0" u="none" strike="noStrike">
                <a:solidFill>
                  <a:srgbClr val="153A2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53A2B"/>
                </a:solidFill>
                <a:latin typeface="Calibri"/>
              </a:rPr>
              <a:t>Moisture-Threshold Query Time</a:t>
            </a:r>
            <a:endParaRPr/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Indexed (Fractional Cascading)</c:v>
                </c:pt>
              </c:strCache>
            </c:strRef>
          </c:tx>
          <c:spPr bwMode="auto">
            <a:prstGeom prst="rect">
              <a:avLst/>
            </a:prstGeom>
            <a:solidFill>
              <a:srgbClr val="153A2B"/>
            </a:solidFill>
            <a:ln w="31750" cap="flat">
              <a:solidFill>
                <a:srgbClr val="153A2B"/>
              </a:solidFill>
              <a:prstDash val="solid"/>
              <a:round/>
            </a:ln>
            <a:effectLst/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153A2B"/>
              </a:solidFill>
              <a:ln w="9525" cap="flat">
                <a:solidFill>
                  <a:srgbClr val="153A2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Sheet1!$A$2:$A$5</c:f>
              <c:multiLvlStrCache>
                <c:ptCount val="4"/>
                <c:lvl>
                  <c:pt idx="0">
                    <c:v>n=60</c:v>
                  </c:pt>
                  <c:pt idx="1">
                    <c:v>n=1,000</c:v>
                  </c:pt>
                  <c:pt idx="2">
                    <c:v>n=5,000</c:v>
                  </c:pt>
                  <c:pt idx="3">
                    <c:v>n=10,000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1.92</c:v>
                </c:pt>
                <c:pt idx="1">
                  <c:v>2.68</c:v>
                </c:pt>
                <c:pt idx="2">
                  <c:v>3.7</c:v>
                </c:pt>
                <c:pt idx="3">
                  <c:v>4.3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Linear scan</c:v>
                </c:pt>
              </c:strCache>
            </c:strRef>
          </c:tx>
          <c:spPr bwMode="auto">
            <a:prstGeom prst="rect">
              <a:avLst/>
            </a:prstGeom>
            <a:solidFill>
              <a:srgbClr val="C98A3D"/>
            </a:solidFill>
            <a:ln w="31750" cap="flat">
              <a:solidFill>
                <a:srgbClr val="C98A3D"/>
              </a:solidFill>
              <a:prstDash val="solid"/>
              <a:round/>
            </a:ln>
            <a:effectLst/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C98A3D"/>
              </a:solidFill>
              <a:ln w="9525" cap="flat">
                <a:solidFill>
                  <a:srgbClr val="C98A3D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Sheet1!$A$2:$A$5</c:f>
              <c:multiLvlStrCache>
                <c:ptCount val="4"/>
                <c:lvl>
                  <c:pt idx="0">
                    <c:v>n=60</c:v>
                  </c:pt>
                  <c:pt idx="1">
                    <c:v>n=1,000</c:v>
                  </c:pt>
                  <c:pt idx="2">
                    <c:v>n=5,000</c:v>
                  </c:pt>
                  <c:pt idx="3">
                    <c:v>n=10,000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4.08</c:v>
                </c:pt>
                <c:pt idx="1">
                  <c:v>105.22</c:v>
                </c:pt>
                <c:pt idx="2">
                  <c:v>774.72</c:v>
                </c:pt>
                <c:pt idx="3">
                  <c:v>1487.54</c:v>
                </c:pt>
              </c:numCache>
            </c:numRef>
          </c:val>
          <c:smooth val="0"/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0"/>
          <c:txPr>
            <a:bodyPr/>
            <a:lstStyle/>
            <a:p>
              <a:pPr>
                <a:defRPr sz="1200" b="0" i="0" u="none" strike="noStrike">
                  <a:solidFill>
                    <a:srgbClr val="000000"/>
                  </a:solidFill>
                  <a:latin typeface="Arial"/>
                </a:defRPr>
              </a:pPr>
              <a:endParaRPr/>
            </a:p>
          </c:txPr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165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9525" cap="flat">
              <a:solidFill>
                <a:srgbClr val="D9E3D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1655A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1655A"/>
                    </a:solidFill>
                    <a:latin typeface="Arial"/>
                  </a:rPr>
                  <a:t>microseconds / query</a:t>
                </a:r>
                <a:endParaRPr/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165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6241C"/>
              </a:solidFill>
            </a:defRPr>
          </a:pPr>
          <a:endParaRPr lang="en-US"/>
        </a:p>
      </c:txPr>
    </c:legend>
    <c:plotVisOnly val="1"/>
    <c:dispBlanksAs val="span"/>
    <c:showDLblsOverMax val="0"/>
  </c:chart>
  <c:spPr bwMode="auto">
    <a:xfrm rot="0">
      <a:off x="5852160" y="1463040"/>
      <a:ext cx="5257800" cy="2514600"/>
    </a:xfrm>
    <a:prstGeom prst="rect">
      <a:avLst/>
    </a:prstGeom>
    <a:noFill/>
    <a:ln>
      <a:noFill/>
    </a:ln>
    <a:effectLst/>
  </c:spPr>
  <c:externalData r:id="rId1">
    <c:autoUpdate val="1"/>
  </c:externalData>
</c:chartSpace>
</file>

<file path=ppt/embeddings/_rels/Microsoft_Excel_Worksheet1.xlsx.rels><?xml version="1.0" encoding="UTF-8" standalone="yes"?><Relationships xmlns="http://schemas.openxmlformats.org/package/2006/relationships"></Relationships>
</file>

<file path=ppt/embeddings/_rels/Microsoft_Excel_Worksheet2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66238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108443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39776604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4164425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744603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733676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351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65783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8293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9882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4335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38463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6421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50308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63371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764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39034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08051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4965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51739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01265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1479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722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83124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3123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76652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2993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0267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8757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93895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103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0218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895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8429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97649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1170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20946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3554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4594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121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4666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995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287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3972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5055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7032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20963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46049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7951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9771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80537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964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3807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10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1.xml" /><Relationship Id="rId4" Type="http://schemas.openxmlformats.org/officeDocument/2006/relationships/chart" Target="../charts/chart2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A1F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113437" name="Shape 0"/>
          <p:cNvSpPr/>
          <p:nvPr/>
        </p:nvSpPr>
        <p:spPr bwMode="auto">
          <a:xfrm>
            <a:off x="7924190" y="608990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727856809" name="Shape 1"/>
          <p:cNvSpPr/>
          <p:nvPr/>
        </p:nvSpPr>
        <p:spPr bwMode="auto">
          <a:xfrm>
            <a:off x="7924190" y="1099441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883003648" name="Shape 2"/>
          <p:cNvSpPr/>
          <p:nvPr/>
        </p:nvSpPr>
        <p:spPr bwMode="auto">
          <a:xfrm>
            <a:off x="7924190" y="1589892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340689095" name="Shape 3"/>
          <p:cNvSpPr/>
          <p:nvPr/>
        </p:nvSpPr>
        <p:spPr bwMode="auto">
          <a:xfrm>
            <a:off x="7924190" y="2080343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209035595" name="Shape 4"/>
          <p:cNvSpPr/>
          <p:nvPr/>
        </p:nvSpPr>
        <p:spPr bwMode="auto">
          <a:xfrm>
            <a:off x="7924190" y="2570794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2022172937" name="Shape 5"/>
          <p:cNvSpPr/>
          <p:nvPr/>
        </p:nvSpPr>
        <p:spPr bwMode="auto">
          <a:xfrm>
            <a:off x="7924190" y="3061245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629685255" name="Shape 6"/>
          <p:cNvSpPr/>
          <p:nvPr/>
        </p:nvSpPr>
        <p:spPr bwMode="auto">
          <a:xfrm>
            <a:off x="7924190" y="3551696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876760144" name="Shape 7"/>
          <p:cNvSpPr/>
          <p:nvPr/>
        </p:nvSpPr>
        <p:spPr bwMode="auto">
          <a:xfrm>
            <a:off x="7924190" y="4042147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844450715" name="Shape 8"/>
          <p:cNvSpPr/>
          <p:nvPr/>
        </p:nvSpPr>
        <p:spPr bwMode="auto">
          <a:xfrm>
            <a:off x="7924190" y="4532598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375421006" name="Shape 9"/>
          <p:cNvSpPr/>
          <p:nvPr/>
        </p:nvSpPr>
        <p:spPr bwMode="auto">
          <a:xfrm>
            <a:off x="7924190" y="5023049"/>
            <a:ext cx="62179" cy="62179"/>
          </a:xfrm>
          <a:prstGeom prst="ellipse">
            <a:avLst/>
          </a:prstGeom>
          <a:solidFill>
            <a:srgbClr val="C98A3D"/>
          </a:solidFill>
          <a:ln/>
        </p:spPr>
      </p:sp>
      <p:sp>
        <p:nvSpPr>
          <p:cNvPr id="781668954" name="Shape 10"/>
          <p:cNvSpPr/>
          <p:nvPr/>
        </p:nvSpPr>
        <p:spPr bwMode="auto">
          <a:xfrm>
            <a:off x="7924190" y="5513499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472440884" name="Shape 11"/>
          <p:cNvSpPr/>
          <p:nvPr/>
        </p:nvSpPr>
        <p:spPr bwMode="auto">
          <a:xfrm>
            <a:off x="7924190" y="6003950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685268320" name="Shape 12"/>
          <p:cNvSpPr/>
          <p:nvPr/>
        </p:nvSpPr>
        <p:spPr bwMode="auto">
          <a:xfrm>
            <a:off x="8459768" y="608990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456680704" name="Shape 13"/>
          <p:cNvSpPr/>
          <p:nvPr/>
        </p:nvSpPr>
        <p:spPr bwMode="auto">
          <a:xfrm>
            <a:off x="8459768" y="1099441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355610429" name="Shape 14"/>
          <p:cNvSpPr/>
          <p:nvPr/>
        </p:nvSpPr>
        <p:spPr bwMode="auto">
          <a:xfrm>
            <a:off x="8459768" y="1589892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636106668" name="Shape 15"/>
          <p:cNvSpPr/>
          <p:nvPr/>
        </p:nvSpPr>
        <p:spPr bwMode="auto">
          <a:xfrm>
            <a:off x="8459768" y="2080343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752594168" name="Shape 16"/>
          <p:cNvSpPr/>
          <p:nvPr/>
        </p:nvSpPr>
        <p:spPr bwMode="auto">
          <a:xfrm>
            <a:off x="8459768" y="2570794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272912961" name="Shape 17"/>
          <p:cNvSpPr/>
          <p:nvPr/>
        </p:nvSpPr>
        <p:spPr bwMode="auto">
          <a:xfrm>
            <a:off x="8459768" y="3061245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820433686" name="Shape 18"/>
          <p:cNvSpPr/>
          <p:nvPr/>
        </p:nvSpPr>
        <p:spPr bwMode="auto">
          <a:xfrm>
            <a:off x="8459768" y="3551696"/>
            <a:ext cx="62179" cy="62179"/>
          </a:xfrm>
          <a:prstGeom prst="ellipse">
            <a:avLst/>
          </a:prstGeom>
          <a:solidFill>
            <a:srgbClr val="C98A3D"/>
          </a:solidFill>
          <a:ln/>
        </p:spPr>
      </p:sp>
      <p:sp>
        <p:nvSpPr>
          <p:cNvPr id="1849837644" name="Shape 19"/>
          <p:cNvSpPr/>
          <p:nvPr/>
        </p:nvSpPr>
        <p:spPr bwMode="auto">
          <a:xfrm>
            <a:off x="8459768" y="4042147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272764877" name="Shape 20"/>
          <p:cNvSpPr/>
          <p:nvPr/>
        </p:nvSpPr>
        <p:spPr bwMode="auto">
          <a:xfrm>
            <a:off x="8459768" y="4532598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177174698" name="Shape 21"/>
          <p:cNvSpPr/>
          <p:nvPr/>
        </p:nvSpPr>
        <p:spPr bwMode="auto">
          <a:xfrm>
            <a:off x="8459768" y="5023049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940747356" name="Shape 22"/>
          <p:cNvSpPr/>
          <p:nvPr/>
        </p:nvSpPr>
        <p:spPr bwMode="auto">
          <a:xfrm>
            <a:off x="8459768" y="5513499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133516092" name="Shape 23"/>
          <p:cNvSpPr/>
          <p:nvPr/>
        </p:nvSpPr>
        <p:spPr bwMode="auto">
          <a:xfrm>
            <a:off x="8459768" y="6003950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293471661" name="Shape 24"/>
          <p:cNvSpPr/>
          <p:nvPr/>
        </p:nvSpPr>
        <p:spPr bwMode="auto">
          <a:xfrm>
            <a:off x="8995345" y="608990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515987364" name="Shape 25"/>
          <p:cNvSpPr/>
          <p:nvPr/>
        </p:nvSpPr>
        <p:spPr bwMode="auto">
          <a:xfrm>
            <a:off x="8995345" y="1099441"/>
            <a:ext cx="62179" cy="62179"/>
          </a:xfrm>
          <a:prstGeom prst="ellipse">
            <a:avLst/>
          </a:prstGeom>
          <a:solidFill>
            <a:srgbClr val="C98A3D"/>
          </a:solidFill>
          <a:ln/>
        </p:spPr>
      </p:sp>
      <p:sp>
        <p:nvSpPr>
          <p:cNvPr id="11236932" name="Shape 26"/>
          <p:cNvSpPr/>
          <p:nvPr/>
        </p:nvSpPr>
        <p:spPr bwMode="auto">
          <a:xfrm>
            <a:off x="8995345" y="1589892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327199515" name="Shape 27"/>
          <p:cNvSpPr/>
          <p:nvPr/>
        </p:nvSpPr>
        <p:spPr bwMode="auto">
          <a:xfrm>
            <a:off x="8995345" y="2080343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970998550" name="Shape 28"/>
          <p:cNvSpPr/>
          <p:nvPr/>
        </p:nvSpPr>
        <p:spPr bwMode="auto">
          <a:xfrm>
            <a:off x="8995345" y="2570794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172106890" name="Shape 29"/>
          <p:cNvSpPr/>
          <p:nvPr/>
        </p:nvSpPr>
        <p:spPr bwMode="auto">
          <a:xfrm>
            <a:off x="8995345" y="3061245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774501096" name="Shape 30"/>
          <p:cNvSpPr/>
          <p:nvPr/>
        </p:nvSpPr>
        <p:spPr bwMode="auto">
          <a:xfrm>
            <a:off x="8995345" y="3551696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234698116" name="Shape 31"/>
          <p:cNvSpPr/>
          <p:nvPr/>
        </p:nvSpPr>
        <p:spPr bwMode="auto">
          <a:xfrm>
            <a:off x="8995345" y="4042147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960816723" name="Shape 32"/>
          <p:cNvSpPr/>
          <p:nvPr/>
        </p:nvSpPr>
        <p:spPr bwMode="auto">
          <a:xfrm>
            <a:off x="8995345" y="4532598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936654020" name="Shape 33"/>
          <p:cNvSpPr/>
          <p:nvPr/>
        </p:nvSpPr>
        <p:spPr bwMode="auto">
          <a:xfrm>
            <a:off x="8995345" y="5023049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995260160" name="Shape 34"/>
          <p:cNvSpPr/>
          <p:nvPr/>
        </p:nvSpPr>
        <p:spPr bwMode="auto">
          <a:xfrm>
            <a:off x="8995345" y="5513499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713673717" name="Shape 35"/>
          <p:cNvSpPr/>
          <p:nvPr/>
        </p:nvSpPr>
        <p:spPr bwMode="auto">
          <a:xfrm>
            <a:off x="8995345" y="6003950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074918076" name="Shape 36"/>
          <p:cNvSpPr/>
          <p:nvPr/>
        </p:nvSpPr>
        <p:spPr bwMode="auto">
          <a:xfrm>
            <a:off x="9530922" y="608990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37795983" name="Shape 37"/>
          <p:cNvSpPr/>
          <p:nvPr/>
        </p:nvSpPr>
        <p:spPr bwMode="auto">
          <a:xfrm>
            <a:off x="9530922" y="1099441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632502808" name="Shape 38"/>
          <p:cNvSpPr/>
          <p:nvPr/>
        </p:nvSpPr>
        <p:spPr bwMode="auto">
          <a:xfrm>
            <a:off x="9530922" y="1589892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138710597" name="Shape 39"/>
          <p:cNvSpPr/>
          <p:nvPr/>
        </p:nvSpPr>
        <p:spPr bwMode="auto">
          <a:xfrm>
            <a:off x="9530922" y="2080343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324342066" name="Shape 40"/>
          <p:cNvSpPr/>
          <p:nvPr/>
        </p:nvSpPr>
        <p:spPr bwMode="auto">
          <a:xfrm>
            <a:off x="9530922" y="2570794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640843855" name="Shape 41"/>
          <p:cNvSpPr/>
          <p:nvPr/>
        </p:nvSpPr>
        <p:spPr bwMode="auto">
          <a:xfrm>
            <a:off x="9530922" y="3061245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93758373" name="Shape 42"/>
          <p:cNvSpPr/>
          <p:nvPr/>
        </p:nvSpPr>
        <p:spPr bwMode="auto">
          <a:xfrm>
            <a:off x="9530922" y="3551696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27740719" name="Shape 43"/>
          <p:cNvSpPr/>
          <p:nvPr/>
        </p:nvSpPr>
        <p:spPr bwMode="auto">
          <a:xfrm>
            <a:off x="9530922" y="4042147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332833882" name="Shape 44"/>
          <p:cNvSpPr/>
          <p:nvPr/>
        </p:nvSpPr>
        <p:spPr bwMode="auto">
          <a:xfrm>
            <a:off x="9530922" y="4532598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73398209" name="Shape 45"/>
          <p:cNvSpPr/>
          <p:nvPr/>
        </p:nvSpPr>
        <p:spPr bwMode="auto">
          <a:xfrm>
            <a:off x="9530922" y="5023049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466078082" name="Shape 46"/>
          <p:cNvSpPr/>
          <p:nvPr/>
        </p:nvSpPr>
        <p:spPr bwMode="auto">
          <a:xfrm>
            <a:off x="9530922" y="5513499"/>
            <a:ext cx="62179" cy="62179"/>
          </a:xfrm>
          <a:prstGeom prst="ellipse">
            <a:avLst/>
          </a:prstGeom>
          <a:solidFill>
            <a:srgbClr val="C98A3D"/>
          </a:solidFill>
          <a:ln/>
        </p:spPr>
      </p:sp>
      <p:sp>
        <p:nvSpPr>
          <p:cNvPr id="25621957" name="Shape 47"/>
          <p:cNvSpPr/>
          <p:nvPr/>
        </p:nvSpPr>
        <p:spPr bwMode="auto">
          <a:xfrm>
            <a:off x="9530922" y="6003950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925277514" name="Shape 48"/>
          <p:cNvSpPr/>
          <p:nvPr/>
        </p:nvSpPr>
        <p:spPr bwMode="auto">
          <a:xfrm>
            <a:off x="10066499" y="608990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915740418" name="Shape 49"/>
          <p:cNvSpPr/>
          <p:nvPr/>
        </p:nvSpPr>
        <p:spPr bwMode="auto">
          <a:xfrm>
            <a:off x="10066499" y="1099441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2015768390" name="Shape 50"/>
          <p:cNvSpPr/>
          <p:nvPr/>
        </p:nvSpPr>
        <p:spPr bwMode="auto">
          <a:xfrm>
            <a:off x="10066499" y="1589892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2082121901" name="Shape 51"/>
          <p:cNvSpPr/>
          <p:nvPr/>
        </p:nvSpPr>
        <p:spPr bwMode="auto">
          <a:xfrm>
            <a:off x="10066499" y="2080343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93160078" name="Shape 52"/>
          <p:cNvSpPr/>
          <p:nvPr/>
        </p:nvSpPr>
        <p:spPr bwMode="auto">
          <a:xfrm>
            <a:off x="10066499" y="2570794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312705166" name="Shape 53"/>
          <p:cNvSpPr/>
          <p:nvPr/>
        </p:nvSpPr>
        <p:spPr bwMode="auto">
          <a:xfrm>
            <a:off x="10066499" y="3061245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469452266" name="Shape 54"/>
          <p:cNvSpPr/>
          <p:nvPr/>
        </p:nvSpPr>
        <p:spPr bwMode="auto">
          <a:xfrm>
            <a:off x="10066499" y="3551696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970050227" name="Shape 55"/>
          <p:cNvSpPr/>
          <p:nvPr/>
        </p:nvSpPr>
        <p:spPr bwMode="auto">
          <a:xfrm>
            <a:off x="10066499" y="4042147"/>
            <a:ext cx="62179" cy="62179"/>
          </a:xfrm>
          <a:prstGeom prst="ellipse">
            <a:avLst/>
          </a:prstGeom>
          <a:solidFill>
            <a:srgbClr val="C98A3D"/>
          </a:solidFill>
          <a:ln/>
        </p:spPr>
      </p:sp>
      <p:sp>
        <p:nvSpPr>
          <p:cNvPr id="1915917843" name="Shape 56"/>
          <p:cNvSpPr/>
          <p:nvPr/>
        </p:nvSpPr>
        <p:spPr bwMode="auto">
          <a:xfrm>
            <a:off x="10066499" y="4532598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982959890" name="Shape 57"/>
          <p:cNvSpPr/>
          <p:nvPr/>
        </p:nvSpPr>
        <p:spPr bwMode="auto">
          <a:xfrm>
            <a:off x="10066499" y="5023049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488643863" name="Shape 58"/>
          <p:cNvSpPr/>
          <p:nvPr/>
        </p:nvSpPr>
        <p:spPr bwMode="auto">
          <a:xfrm>
            <a:off x="10066499" y="5513499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947596347" name="Shape 59"/>
          <p:cNvSpPr/>
          <p:nvPr/>
        </p:nvSpPr>
        <p:spPr bwMode="auto">
          <a:xfrm>
            <a:off x="10066499" y="6003950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572642798" name="Shape 60"/>
          <p:cNvSpPr/>
          <p:nvPr/>
        </p:nvSpPr>
        <p:spPr bwMode="auto">
          <a:xfrm>
            <a:off x="10602076" y="608990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299122802" name="Shape 61"/>
          <p:cNvSpPr/>
          <p:nvPr/>
        </p:nvSpPr>
        <p:spPr bwMode="auto">
          <a:xfrm>
            <a:off x="10602076" y="1099441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0868942" name="Shape 62"/>
          <p:cNvSpPr/>
          <p:nvPr/>
        </p:nvSpPr>
        <p:spPr bwMode="auto">
          <a:xfrm>
            <a:off x="10602076" y="1589892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408761813" name="Shape 63"/>
          <p:cNvSpPr/>
          <p:nvPr/>
        </p:nvSpPr>
        <p:spPr bwMode="auto">
          <a:xfrm>
            <a:off x="10602076" y="2080343"/>
            <a:ext cx="62179" cy="62179"/>
          </a:xfrm>
          <a:prstGeom prst="ellipse">
            <a:avLst/>
          </a:prstGeom>
          <a:solidFill>
            <a:srgbClr val="C98A3D"/>
          </a:solidFill>
          <a:ln/>
        </p:spPr>
      </p:sp>
      <p:sp>
        <p:nvSpPr>
          <p:cNvPr id="1665156846" name="Shape 64"/>
          <p:cNvSpPr/>
          <p:nvPr/>
        </p:nvSpPr>
        <p:spPr bwMode="auto">
          <a:xfrm>
            <a:off x="10602076" y="2570794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2004944304" name="Shape 65"/>
          <p:cNvSpPr/>
          <p:nvPr/>
        </p:nvSpPr>
        <p:spPr bwMode="auto">
          <a:xfrm>
            <a:off x="10602076" y="3061245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911200067" name="Shape 66"/>
          <p:cNvSpPr/>
          <p:nvPr/>
        </p:nvSpPr>
        <p:spPr bwMode="auto">
          <a:xfrm>
            <a:off x="10602076" y="3551696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826660597" name="Shape 67"/>
          <p:cNvSpPr/>
          <p:nvPr/>
        </p:nvSpPr>
        <p:spPr bwMode="auto">
          <a:xfrm>
            <a:off x="10602076" y="4042147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548633877" name="Shape 68"/>
          <p:cNvSpPr/>
          <p:nvPr/>
        </p:nvSpPr>
        <p:spPr bwMode="auto">
          <a:xfrm>
            <a:off x="10602076" y="4532598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512384306" name="Shape 69"/>
          <p:cNvSpPr/>
          <p:nvPr/>
        </p:nvSpPr>
        <p:spPr bwMode="auto">
          <a:xfrm>
            <a:off x="10602076" y="5023049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952952521" name="Shape 70"/>
          <p:cNvSpPr/>
          <p:nvPr/>
        </p:nvSpPr>
        <p:spPr bwMode="auto">
          <a:xfrm>
            <a:off x="10602076" y="5513499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530781354" name="Shape 71"/>
          <p:cNvSpPr/>
          <p:nvPr/>
        </p:nvSpPr>
        <p:spPr bwMode="auto">
          <a:xfrm>
            <a:off x="10602076" y="6003950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364450380" name="Shape 72"/>
          <p:cNvSpPr/>
          <p:nvPr/>
        </p:nvSpPr>
        <p:spPr bwMode="auto">
          <a:xfrm>
            <a:off x="11137653" y="608990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314451059" name="Shape 73"/>
          <p:cNvSpPr/>
          <p:nvPr/>
        </p:nvSpPr>
        <p:spPr bwMode="auto">
          <a:xfrm>
            <a:off x="11137653" y="1099441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648315926" name="Shape 74"/>
          <p:cNvSpPr/>
          <p:nvPr/>
        </p:nvSpPr>
        <p:spPr bwMode="auto">
          <a:xfrm>
            <a:off x="11137653" y="1589892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473941311" name="Shape 75"/>
          <p:cNvSpPr/>
          <p:nvPr/>
        </p:nvSpPr>
        <p:spPr bwMode="auto">
          <a:xfrm>
            <a:off x="11137653" y="2080343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2064337122" name="Shape 76"/>
          <p:cNvSpPr/>
          <p:nvPr/>
        </p:nvSpPr>
        <p:spPr bwMode="auto">
          <a:xfrm>
            <a:off x="11137653" y="2570794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483019654" name="Shape 77"/>
          <p:cNvSpPr/>
          <p:nvPr/>
        </p:nvSpPr>
        <p:spPr bwMode="auto">
          <a:xfrm>
            <a:off x="11137653" y="3061245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020480107" name="Shape 78"/>
          <p:cNvSpPr/>
          <p:nvPr/>
        </p:nvSpPr>
        <p:spPr bwMode="auto">
          <a:xfrm>
            <a:off x="11137653" y="3551696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147375723" name="Shape 79"/>
          <p:cNvSpPr/>
          <p:nvPr/>
        </p:nvSpPr>
        <p:spPr bwMode="auto">
          <a:xfrm>
            <a:off x="11137653" y="4042147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575038129" name="Shape 80"/>
          <p:cNvSpPr/>
          <p:nvPr/>
        </p:nvSpPr>
        <p:spPr bwMode="auto">
          <a:xfrm>
            <a:off x="11137653" y="4532598"/>
            <a:ext cx="62179" cy="62179"/>
          </a:xfrm>
          <a:prstGeom prst="ellipse">
            <a:avLst/>
          </a:prstGeom>
          <a:solidFill>
            <a:srgbClr val="C98A3D"/>
          </a:solidFill>
          <a:ln/>
        </p:spPr>
      </p:sp>
      <p:sp>
        <p:nvSpPr>
          <p:cNvPr id="464948750" name="Shape 81"/>
          <p:cNvSpPr/>
          <p:nvPr/>
        </p:nvSpPr>
        <p:spPr bwMode="auto">
          <a:xfrm>
            <a:off x="11137653" y="5023049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232013045" name="Shape 82"/>
          <p:cNvSpPr/>
          <p:nvPr/>
        </p:nvSpPr>
        <p:spPr bwMode="auto">
          <a:xfrm>
            <a:off x="11137653" y="5513499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406851166" name="Shape 83"/>
          <p:cNvSpPr/>
          <p:nvPr/>
        </p:nvSpPr>
        <p:spPr bwMode="auto">
          <a:xfrm>
            <a:off x="11137653" y="6003950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446964000" name="Shape 84"/>
          <p:cNvSpPr/>
          <p:nvPr/>
        </p:nvSpPr>
        <p:spPr bwMode="auto">
          <a:xfrm>
            <a:off x="11673230" y="608990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938728706" name="Shape 85"/>
          <p:cNvSpPr/>
          <p:nvPr/>
        </p:nvSpPr>
        <p:spPr bwMode="auto">
          <a:xfrm>
            <a:off x="11673230" y="1099441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415876522" name="Shape 86"/>
          <p:cNvSpPr/>
          <p:nvPr/>
        </p:nvSpPr>
        <p:spPr bwMode="auto">
          <a:xfrm>
            <a:off x="11673230" y="1589892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828915181" name="Shape 87"/>
          <p:cNvSpPr/>
          <p:nvPr/>
        </p:nvSpPr>
        <p:spPr bwMode="auto">
          <a:xfrm>
            <a:off x="11673230" y="2080343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211917774" name="Shape 88"/>
          <p:cNvSpPr/>
          <p:nvPr/>
        </p:nvSpPr>
        <p:spPr bwMode="auto">
          <a:xfrm>
            <a:off x="11673230" y="2570794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330443275" name="Shape 89"/>
          <p:cNvSpPr/>
          <p:nvPr/>
        </p:nvSpPr>
        <p:spPr bwMode="auto">
          <a:xfrm>
            <a:off x="11673230" y="3061245"/>
            <a:ext cx="62179" cy="62179"/>
          </a:xfrm>
          <a:prstGeom prst="ellipse">
            <a:avLst/>
          </a:prstGeom>
          <a:solidFill>
            <a:srgbClr val="C98A3D"/>
          </a:solidFill>
          <a:ln/>
        </p:spPr>
      </p:sp>
      <p:sp>
        <p:nvSpPr>
          <p:cNvPr id="1621533685" name="Shape 90"/>
          <p:cNvSpPr/>
          <p:nvPr/>
        </p:nvSpPr>
        <p:spPr bwMode="auto">
          <a:xfrm>
            <a:off x="11673230" y="3551696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878673472" name="Shape 91"/>
          <p:cNvSpPr/>
          <p:nvPr/>
        </p:nvSpPr>
        <p:spPr bwMode="auto">
          <a:xfrm>
            <a:off x="11673230" y="4042147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367293754" name="Shape 92"/>
          <p:cNvSpPr/>
          <p:nvPr/>
        </p:nvSpPr>
        <p:spPr bwMode="auto">
          <a:xfrm>
            <a:off x="11673230" y="4532598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700965583" name="Shape 93"/>
          <p:cNvSpPr/>
          <p:nvPr/>
        </p:nvSpPr>
        <p:spPr bwMode="auto">
          <a:xfrm>
            <a:off x="11673230" y="5023049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1402110983" name="Shape 94"/>
          <p:cNvSpPr/>
          <p:nvPr/>
        </p:nvSpPr>
        <p:spPr bwMode="auto">
          <a:xfrm>
            <a:off x="11673230" y="5513499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2087761034" name="Shape 95"/>
          <p:cNvSpPr/>
          <p:nvPr/>
        </p:nvSpPr>
        <p:spPr bwMode="auto">
          <a:xfrm>
            <a:off x="11673230" y="6003950"/>
            <a:ext cx="62179" cy="62179"/>
          </a:xfrm>
          <a:prstGeom prst="ellipse">
            <a:avLst/>
          </a:prstGeom>
          <a:solidFill>
            <a:srgbClr val="2A5240"/>
          </a:solidFill>
          <a:ln/>
        </p:spPr>
      </p:sp>
      <p:sp>
        <p:nvSpPr>
          <p:cNvPr id="217466370" name="Text 98"/>
          <p:cNvSpPr txBox="1"/>
          <p:nvPr/>
        </p:nvSpPr>
        <p:spPr bwMode="auto">
          <a:xfrm>
            <a:off x="777240" y="10515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 spc="15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DATA STRUCTURES &amp; ALGORITHMS  •  CAPSTONE PROJECT</a:t>
            </a:r>
            <a:endParaRPr lang="en-US" sz="1250"/>
          </a:p>
        </p:txBody>
      </p:sp>
      <p:sp>
        <p:nvSpPr>
          <p:cNvPr id="1586565441" name="Text 99"/>
          <p:cNvSpPr txBox="1"/>
          <p:nvPr/>
        </p:nvSpPr>
        <p:spPr bwMode="auto">
          <a:xfrm>
            <a:off x="777240" y="146304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Precision Agriculture Spatial Analytics and Smart Irrigation System</a:t>
            </a:r>
            <a:endParaRPr lang="en-US" sz="3000"/>
          </a:p>
        </p:txBody>
      </p:sp>
      <p:sp>
        <p:nvSpPr>
          <p:cNvPr id="583160133" name="Text 100"/>
          <p:cNvSpPr txBox="1"/>
          <p:nvPr/>
        </p:nvSpPr>
        <p:spPr bwMode="auto">
          <a:xfrm>
            <a:off x="777240" y="278892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600" i="1">
                <a:solidFill>
                  <a:srgbClr val="AFC9AF"/>
                </a:solidFill>
                <a:latin typeface="Calibri"/>
                <a:ea typeface="Calibri"/>
                <a:cs typeface="Calibri"/>
              </a:rPr>
              <a:t>using Orthogonal Range Search, KD-Tree, and Fractional Cascading</a:t>
            </a:r>
            <a:endParaRPr lang="en-US" sz="1600"/>
          </a:p>
        </p:txBody>
      </p:sp>
      <p:sp>
        <p:nvSpPr>
          <p:cNvPr id="178528412" name="Shape 101"/>
          <p:cNvSpPr/>
          <p:nvPr/>
        </p:nvSpPr>
        <p:spPr bwMode="auto">
          <a:xfrm flipH="0" flipV="0">
            <a:off x="21808" y="3794760"/>
            <a:ext cx="7040880" cy="3036963"/>
          </a:xfrm>
          <a:prstGeom prst="roundRect">
            <a:avLst>
              <a:gd name="adj" fmla="val 3774"/>
            </a:avLst>
          </a:prstGeom>
          <a:solidFill>
            <a:srgbClr val="17362A"/>
          </a:solidFill>
          <a:ln/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99098084" name="Text 102"/>
          <p:cNvSpPr txBox="1"/>
          <p:nvPr/>
        </p:nvSpPr>
        <p:spPr bwMode="auto">
          <a:xfrm>
            <a:off x="77724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 spc="5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STUDENT NAMES</a:t>
            </a:r>
            <a:endParaRPr lang="en-US" sz="850"/>
          </a:p>
        </p:txBody>
      </p:sp>
      <p:sp>
        <p:nvSpPr>
          <p:cNvPr id="1426564167" name="Text 103"/>
          <p:cNvSpPr txBox="1"/>
          <p:nvPr/>
        </p:nvSpPr>
        <p:spPr bwMode="auto">
          <a:xfrm flipH="0" flipV="0">
            <a:off x="777240" y="4206239"/>
            <a:ext cx="3200400" cy="816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Shreeya Khanal</a:t>
            </a:r>
            <a:endParaRPr lang="en-US" sz="11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Ishika Rana</a:t>
            </a:r>
            <a:endParaRPr lang="en-US" sz="11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 </a:t>
            </a: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Pooja Sri</a:t>
            </a:r>
            <a:endParaRPr lang="en-US" sz="11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Nitya </a:t>
            </a:r>
            <a:endParaRPr lang="en-US" sz="11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63971670" name="Text 104"/>
          <p:cNvSpPr txBox="1"/>
          <p:nvPr/>
        </p:nvSpPr>
        <p:spPr bwMode="auto">
          <a:xfrm>
            <a:off x="429768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 spc="5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REGISTER NUMBES</a:t>
            </a:r>
            <a:endParaRPr lang="en-US" sz="850"/>
          </a:p>
        </p:txBody>
      </p:sp>
      <p:sp>
        <p:nvSpPr>
          <p:cNvPr id="1786336787" name="Text 105"/>
          <p:cNvSpPr txBox="1"/>
          <p:nvPr/>
        </p:nvSpPr>
        <p:spPr bwMode="auto">
          <a:xfrm flipH="0" flipV="0">
            <a:off x="4297680" y="4226323"/>
            <a:ext cx="3200400" cy="736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CH.SC.U4AIE25073</a:t>
            </a:r>
            <a:endParaRPr lang="en-US" sz="11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CH.SC.U4AIE25021</a:t>
            </a:r>
            <a:endParaRPr lang="en-US" sz="11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CH.SC.U4AIE25059</a:t>
            </a:r>
            <a:endParaRPr lang="en-US" sz="11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CH.SC.U4AIE25010</a:t>
            </a:r>
            <a:endParaRPr lang="en-US" sz="1100"/>
          </a:p>
        </p:txBody>
      </p:sp>
      <p:sp>
        <p:nvSpPr>
          <p:cNvPr id="1475479272" name="Text 106"/>
          <p:cNvSpPr txBox="1"/>
          <p:nvPr/>
        </p:nvSpPr>
        <p:spPr bwMode="auto">
          <a:xfrm>
            <a:off x="777240" y="508522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 spc="5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COURSE</a:t>
            </a:r>
            <a:endParaRPr lang="en-US" sz="850"/>
          </a:p>
        </p:txBody>
      </p:sp>
      <p:sp>
        <p:nvSpPr>
          <p:cNvPr id="954509238" name="Text 107"/>
          <p:cNvSpPr txBox="1"/>
          <p:nvPr/>
        </p:nvSpPr>
        <p:spPr bwMode="auto">
          <a:xfrm>
            <a:off x="777240" y="5313241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Structures and Algorithms</a:t>
            </a:r>
            <a:endParaRPr lang="en-US" sz="1100"/>
          </a:p>
        </p:txBody>
      </p:sp>
      <p:sp>
        <p:nvSpPr>
          <p:cNvPr id="1089812858" name="Text 108"/>
          <p:cNvSpPr txBox="1"/>
          <p:nvPr/>
        </p:nvSpPr>
        <p:spPr bwMode="auto">
          <a:xfrm>
            <a:off x="4297680" y="5112073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 spc="5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COURSE CODE</a:t>
            </a:r>
            <a:endParaRPr lang="en-US" sz="850"/>
          </a:p>
        </p:txBody>
      </p:sp>
      <p:sp>
        <p:nvSpPr>
          <p:cNvPr id="1660597890" name="Text 109"/>
          <p:cNvSpPr txBox="1"/>
          <p:nvPr/>
        </p:nvSpPr>
        <p:spPr bwMode="auto">
          <a:xfrm>
            <a:off x="4297680" y="5313241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22AIE203</a:t>
            </a:r>
            <a:endParaRPr lang="en-US" sz="1100"/>
          </a:p>
        </p:txBody>
      </p:sp>
      <p:sp>
        <p:nvSpPr>
          <p:cNvPr id="2036492425" name="Text 110"/>
          <p:cNvSpPr txBox="1"/>
          <p:nvPr/>
        </p:nvSpPr>
        <p:spPr bwMode="auto">
          <a:xfrm>
            <a:off x="777240" y="56509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 spc="5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DEPARTMENT</a:t>
            </a:r>
            <a:endParaRPr lang="en-US" sz="850"/>
          </a:p>
        </p:txBody>
      </p:sp>
      <p:sp>
        <p:nvSpPr>
          <p:cNvPr id="1857911134" name="Text 111"/>
          <p:cNvSpPr txBox="1"/>
          <p:nvPr/>
        </p:nvSpPr>
        <p:spPr bwMode="auto">
          <a:xfrm>
            <a:off x="777240" y="5852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Department of Computer Science &amp; Engineering</a:t>
            </a:r>
            <a:endParaRPr lang="en-US" sz="1100"/>
          </a:p>
        </p:txBody>
      </p:sp>
      <p:sp>
        <p:nvSpPr>
          <p:cNvPr id="1528420497" name="Text 112"/>
          <p:cNvSpPr txBox="1"/>
          <p:nvPr/>
        </p:nvSpPr>
        <p:spPr bwMode="auto">
          <a:xfrm>
            <a:off x="4297680" y="56509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 spc="5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INSTITUTION</a:t>
            </a:r>
            <a:endParaRPr lang="en-US" sz="850"/>
          </a:p>
        </p:txBody>
      </p:sp>
      <p:sp>
        <p:nvSpPr>
          <p:cNvPr id="1264405232" name="Text 113"/>
          <p:cNvSpPr txBox="1"/>
          <p:nvPr/>
        </p:nvSpPr>
        <p:spPr bwMode="auto">
          <a:xfrm>
            <a:off x="4297680" y="5852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Amrita School of Computing</a:t>
            </a:r>
            <a:endParaRPr lang="en-US" sz="1100"/>
          </a:p>
        </p:txBody>
      </p:sp>
      <p:sp>
        <p:nvSpPr>
          <p:cNvPr id="1385701478" name="Text 114"/>
          <p:cNvSpPr txBox="1"/>
          <p:nvPr/>
        </p:nvSpPr>
        <p:spPr bwMode="auto">
          <a:xfrm>
            <a:off x="777240" y="61667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 spc="5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FACULTY / GUIDE</a:t>
            </a:r>
            <a:endParaRPr lang="en-US" sz="850"/>
          </a:p>
        </p:txBody>
      </p:sp>
      <p:sp>
        <p:nvSpPr>
          <p:cNvPr id="888837904" name="Text 115"/>
          <p:cNvSpPr txBox="1"/>
          <p:nvPr/>
        </p:nvSpPr>
        <p:spPr bwMode="auto">
          <a:xfrm>
            <a:off x="777240" y="6373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 Bharathi Mohan</a:t>
            </a:r>
            <a:endParaRPr lang="en-US" sz="1100"/>
          </a:p>
        </p:txBody>
      </p:sp>
      <p:sp>
        <p:nvSpPr>
          <p:cNvPr id="416727780" name="Text 116"/>
          <p:cNvSpPr txBox="1"/>
          <p:nvPr/>
        </p:nvSpPr>
        <p:spPr bwMode="auto">
          <a:xfrm>
            <a:off x="4297680" y="61722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 spc="5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ACADEMIC YEAR</a:t>
            </a:r>
            <a:endParaRPr lang="en-US" sz="850"/>
          </a:p>
        </p:txBody>
      </p:sp>
      <p:sp>
        <p:nvSpPr>
          <p:cNvPr id="389735040" name="Text 117"/>
          <p:cNvSpPr txBox="1"/>
          <p:nvPr/>
        </p:nvSpPr>
        <p:spPr bwMode="auto">
          <a:xfrm>
            <a:off x="4297680" y="6373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2026 – 2027</a:t>
            </a:r>
            <a:endParaRPr lang="en-US" sz="1100"/>
          </a:p>
        </p:txBody>
      </p:sp>
      <p:sp>
        <p:nvSpPr>
          <p:cNvPr id="342916959" name="Text 118"/>
          <p:cNvSpPr txBox="1"/>
          <p:nvPr/>
        </p:nvSpPr>
        <p:spPr bwMode="auto"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AFC9AF"/>
                </a:solidFill>
                <a:latin typeface="Calibri"/>
                <a:ea typeface="Calibri"/>
                <a:cs typeface="Calibri"/>
              </a:rPr>
              <a:t>01 / 16</a:t>
            </a:r>
            <a:endParaRPr lang="en-US" sz="900"/>
          </a:p>
        </p:txBody>
      </p:sp>
      <p:pic>
        <p:nvPicPr>
          <p:cNvPr id="15018578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818120" y="608989"/>
            <a:ext cx="4368992" cy="54128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7107178" name="Shape 0"/>
          <p:cNvSpPr/>
          <p:nvPr/>
        </p:nvSpPr>
        <p:spPr bwMode="auto">
          <a:xfrm>
            <a:off x="256032" y="402336"/>
            <a:ext cx="54864" cy="1106424"/>
          </a:xfrm>
          <a:prstGeom prst="rect">
            <a:avLst/>
          </a:prstGeom>
          <a:solidFill>
            <a:srgbClr val="C98A3D"/>
          </a:solidFill>
          <a:ln/>
        </p:spPr>
      </p:sp>
      <p:sp>
        <p:nvSpPr>
          <p:cNvPr id="317443725" name="Text 1"/>
          <p:cNvSpPr txBox="1"/>
          <p:nvPr/>
        </p:nvSpPr>
        <p:spPr bwMode="auto">
          <a:xfrm>
            <a:off x="502920" y="384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INTRODUCTION</a:t>
            </a:r>
            <a:endParaRPr lang="en-US" sz="1200"/>
          </a:p>
        </p:txBody>
      </p:sp>
      <p:sp>
        <p:nvSpPr>
          <p:cNvPr id="50347779" name="Text 2"/>
          <p:cNvSpPr txBox="1"/>
          <p:nvPr/>
        </p:nvSpPr>
        <p:spPr bwMode="auto">
          <a:xfrm>
            <a:off x="457200" y="62179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300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Introduction &amp; Domain</a:t>
            </a:r>
            <a:endParaRPr lang="en-US" sz="3000"/>
          </a:p>
        </p:txBody>
      </p:sp>
      <p:sp>
        <p:nvSpPr>
          <p:cNvPr id="18510607" name="Shape 3"/>
          <p:cNvSpPr/>
          <p:nvPr/>
        </p:nvSpPr>
        <p:spPr bwMode="auto">
          <a:xfrm>
            <a:off x="457200" y="1508759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0A1F15"/>
          </a:solidFill>
          <a:ln/>
        </p:spPr>
      </p:sp>
      <p:sp>
        <p:nvSpPr>
          <p:cNvPr id="378185664" name="Text 4"/>
          <p:cNvSpPr txBox="1"/>
          <p:nvPr/>
        </p:nvSpPr>
        <p:spPr bwMode="auto">
          <a:xfrm>
            <a:off x="731520" y="1508759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i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Precision agriculture requires location-based analysis of field conditions.</a:t>
            </a:r>
            <a:endParaRPr lang="en-US" sz="1600"/>
          </a:p>
        </p:txBody>
      </p:sp>
      <p:sp>
        <p:nvSpPr>
          <p:cNvPr id="2048704729" name="Shape 5"/>
          <p:cNvSpPr/>
          <p:nvPr/>
        </p:nvSpPr>
        <p:spPr bwMode="auto">
          <a:xfrm>
            <a:off x="457200" y="242316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EEF4EE"/>
          </a:solidFill>
          <a:ln/>
          <a:effectLst>
            <a:outerShdw blurRad="76200" dist="25400" dir="5400000" sx="100000" sy="100000" kx="0" ky="0" algn="bl" rotWithShape="0">
              <a:srgbClr val="153A2B">
                <a:alpha val="12000"/>
              </a:srgbClr>
            </a:outerShdw>
          </a:effectLst>
        </p:spPr>
      </p:sp>
      <p:sp>
        <p:nvSpPr>
          <p:cNvPr id="1422187706" name="Shape 6"/>
          <p:cNvSpPr/>
          <p:nvPr/>
        </p:nvSpPr>
        <p:spPr bwMode="auto">
          <a:xfrm>
            <a:off x="658368" y="2542032"/>
            <a:ext cx="420624" cy="420624"/>
          </a:xfrm>
          <a:prstGeom prst="ellipse">
            <a:avLst/>
          </a:prstGeom>
          <a:solidFill>
            <a:srgbClr val="153A2B"/>
          </a:solidFill>
          <a:ln/>
        </p:spPr>
      </p:sp>
      <p:sp>
        <p:nvSpPr>
          <p:cNvPr id="345294594" name="Text 7"/>
          <p:cNvSpPr txBox="1"/>
          <p:nvPr/>
        </p:nvSpPr>
        <p:spPr bwMode="auto">
          <a:xfrm>
            <a:off x="658368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600"/>
          </a:p>
        </p:txBody>
      </p:sp>
      <p:sp>
        <p:nvSpPr>
          <p:cNvPr id="1546681622" name="Text 8"/>
          <p:cNvSpPr txBox="1"/>
          <p:nvPr/>
        </p:nvSpPr>
        <p:spPr bwMode="auto">
          <a:xfrm>
            <a:off x="1298448" y="2423160"/>
            <a:ext cx="10195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30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Agricultural fields exhibit spatial variation in moisture, pH, temperature, humidity and nutrients.</a:t>
            </a:r>
            <a:endParaRPr lang="en-US" sz="1300"/>
          </a:p>
        </p:txBody>
      </p:sp>
      <p:sp>
        <p:nvSpPr>
          <p:cNvPr id="1758067959" name="Shape 9"/>
          <p:cNvSpPr/>
          <p:nvPr/>
        </p:nvSpPr>
        <p:spPr bwMode="auto">
          <a:xfrm>
            <a:off x="457200" y="320040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BF3E7"/>
          </a:solidFill>
          <a:ln/>
          <a:effectLst>
            <a:outerShdw blurRad="76200" dist="25400" dir="5400000" sx="100000" sy="100000" kx="0" ky="0" algn="bl" rotWithShape="0">
              <a:srgbClr val="153A2B">
                <a:alpha val="12000"/>
              </a:srgbClr>
            </a:outerShdw>
          </a:effectLst>
        </p:spPr>
      </p:sp>
      <p:sp>
        <p:nvSpPr>
          <p:cNvPr id="258811039" name="Shape 10"/>
          <p:cNvSpPr/>
          <p:nvPr/>
        </p:nvSpPr>
        <p:spPr bwMode="auto">
          <a:xfrm>
            <a:off x="658368" y="3319272"/>
            <a:ext cx="420624" cy="420624"/>
          </a:xfrm>
          <a:prstGeom prst="ellipse">
            <a:avLst/>
          </a:prstGeom>
          <a:solidFill>
            <a:srgbClr val="153A2B"/>
          </a:solidFill>
          <a:ln/>
        </p:spPr>
      </p:sp>
      <p:sp>
        <p:nvSpPr>
          <p:cNvPr id="1812114877" name="Text 11"/>
          <p:cNvSpPr txBox="1"/>
          <p:nvPr/>
        </p:nvSpPr>
        <p:spPr bwMode="auto">
          <a:xfrm>
            <a:off x="658368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600"/>
          </a:p>
        </p:txBody>
      </p:sp>
      <p:sp>
        <p:nvSpPr>
          <p:cNvPr id="1892822763" name="Text 12"/>
          <p:cNvSpPr txBox="1"/>
          <p:nvPr/>
        </p:nvSpPr>
        <p:spPr bwMode="auto">
          <a:xfrm>
            <a:off x="1298448" y="3200400"/>
            <a:ext cx="10195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30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Sensor networks generate multidimensional data associated with X–Y field coordinates.</a:t>
            </a:r>
            <a:endParaRPr lang="en-US" sz="1300"/>
          </a:p>
        </p:txBody>
      </p:sp>
      <p:sp>
        <p:nvSpPr>
          <p:cNvPr id="981841261" name="Shape 13"/>
          <p:cNvSpPr/>
          <p:nvPr/>
        </p:nvSpPr>
        <p:spPr bwMode="auto">
          <a:xfrm>
            <a:off x="457200" y="397764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EEF4EE"/>
          </a:solidFill>
          <a:ln/>
          <a:effectLst>
            <a:outerShdw blurRad="76200" dist="25400" dir="5400000" sx="100000" sy="100000" kx="0" ky="0" algn="bl" rotWithShape="0">
              <a:srgbClr val="153A2B">
                <a:alpha val="12000"/>
              </a:srgbClr>
            </a:outerShdw>
          </a:effectLst>
        </p:spPr>
      </p:sp>
      <p:sp>
        <p:nvSpPr>
          <p:cNvPr id="1775273521" name="Shape 14"/>
          <p:cNvSpPr/>
          <p:nvPr/>
        </p:nvSpPr>
        <p:spPr bwMode="auto">
          <a:xfrm>
            <a:off x="658368" y="4096512"/>
            <a:ext cx="420624" cy="420624"/>
          </a:xfrm>
          <a:prstGeom prst="ellipse">
            <a:avLst/>
          </a:prstGeom>
          <a:solidFill>
            <a:srgbClr val="153A2B"/>
          </a:solidFill>
          <a:ln/>
        </p:spPr>
      </p:sp>
      <p:sp>
        <p:nvSpPr>
          <p:cNvPr id="1052414159" name="Text 15"/>
          <p:cNvSpPr txBox="1"/>
          <p:nvPr/>
        </p:nvSpPr>
        <p:spPr bwMode="auto">
          <a:xfrm>
            <a:off x="658368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600"/>
          </a:p>
        </p:txBody>
      </p:sp>
      <p:sp>
        <p:nvSpPr>
          <p:cNvPr id="135677492" name="Text 16"/>
          <p:cNvSpPr txBox="1"/>
          <p:nvPr/>
        </p:nvSpPr>
        <p:spPr bwMode="auto">
          <a:xfrm>
            <a:off x="1298448" y="3977640"/>
            <a:ext cx="10195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30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Traditional linear scanning becomes inefficient as the number of sensors increases.</a:t>
            </a:r>
            <a:endParaRPr lang="en-US" sz="1300"/>
          </a:p>
        </p:txBody>
      </p:sp>
      <p:sp>
        <p:nvSpPr>
          <p:cNvPr id="428569939" name="Shape 17"/>
          <p:cNvSpPr/>
          <p:nvPr/>
        </p:nvSpPr>
        <p:spPr bwMode="auto">
          <a:xfrm>
            <a:off x="457200" y="475488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BF3E7"/>
          </a:solidFill>
          <a:ln/>
          <a:effectLst>
            <a:outerShdw blurRad="76200" dist="25400" dir="5400000" sx="100000" sy="100000" kx="0" ky="0" algn="bl" rotWithShape="0">
              <a:srgbClr val="153A2B">
                <a:alpha val="12000"/>
              </a:srgbClr>
            </a:outerShdw>
          </a:effectLst>
        </p:spPr>
      </p:sp>
      <p:sp>
        <p:nvSpPr>
          <p:cNvPr id="91509977" name="Shape 18"/>
          <p:cNvSpPr/>
          <p:nvPr/>
        </p:nvSpPr>
        <p:spPr bwMode="auto">
          <a:xfrm>
            <a:off x="658368" y="4873752"/>
            <a:ext cx="420624" cy="420624"/>
          </a:xfrm>
          <a:prstGeom prst="ellipse">
            <a:avLst/>
          </a:prstGeom>
          <a:solidFill>
            <a:srgbClr val="153A2B"/>
          </a:solidFill>
          <a:ln/>
        </p:spPr>
      </p:sp>
      <p:sp>
        <p:nvSpPr>
          <p:cNvPr id="681344426" name="Text 19"/>
          <p:cNvSpPr txBox="1"/>
          <p:nvPr/>
        </p:nvSpPr>
        <p:spPr bwMode="auto">
          <a:xfrm>
            <a:off x="658368" y="4873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lang="en-US" sz="1600"/>
          </a:p>
        </p:txBody>
      </p:sp>
      <p:sp>
        <p:nvSpPr>
          <p:cNvPr id="1609205200" name="Text 20"/>
          <p:cNvSpPr txBox="1"/>
          <p:nvPr/>
        </p:nvSpPr>
        <p:spPr bwMode="auto">
          <a:xfrm>
            <a:off x="1298448" y="4754880"/>
            <a:ext cx="10195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30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Efficient spatial data structures can enable fast queries and localized irrigation decisions.</a:t>
            </a:r>
            <a:endParaRPr lang="en-US" sz="1300"/>
          </a:p>
        </p:txBody>
      </p:sp>
      <p:sp>
        <p:nvSpPr>
          <p:cNvPr id="416679487" name="Shape 21"/>
          <p:cNvSpPr/>
          <p:nvPr/>
        </p:nvSpPr>
        <p:spPr bwMode="auto">
          <a:xfrm>
            <a:off x="457200" y="580644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153A2B"/>
          </a:solidFill>
          <a:ln/>
        </p:spPr>
      </p:sp>
      <p:sp>
        <p:nvSpPr>
          <p:cNvPr id="1751911197" name="Text 22"/>
          <p:cNvSpPr txBox="1"/>
          <p:nvPr/>
        </p:nvSpPr>
        <p:spPr bwMode="auto">
          <a:xfrm>
            <a:off x="457200" y="58064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Farm</a:t>
            </a:r>
            <a:endParaRPr lang="en-US" sz="1400"/>
          </a:p>
        </p:txBody>
      </p:sp>
      <p:sp>
        <p:nvSpPr>
          <p:cNvPr id="1787011255" name="Shape 23"/>
          <p:cNvSpPr/>
          <p:nvPr/>
        </p:nvSpPr>
        <p:spPr bwMode="auto">
          <a:xfrm>
            <a:off x="2788920" y="6089904"/>
            <a:ext cx="649224" cy="9144"/>
          </a:xfrm>
          <a:prstGeom prst="line">
            <a:avLst/>
          </a:prstGeom>
          <a:noFill/>
          <a:ln w="25400">
            <a:solidFill>
              <a:srgbClr val="6FA37D"/>
            </a:solidFill>
            <a:prstDash val="solid"/>
            <a:tailEnd type="triangle"/>
          </a:ln>
        </p:spPr>
      </p:sp>
      <p:sp>
        <p:nvSpPr>
          <p:cNvPr id="1153205568" name="Shape 24"/>
          <p:cNvSpPr/>
          <p:nvPr/>
        </p:nvSpPr>
        <p:spPr bwMode="auto">
          <a:xfrm>
            <a:off x="3438144" y="580644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153A2B"/>
          </a:solidFill>
          <a:ln/>
        </p:spPr>
      </p:sp>
      <p:sp>
        <p:nvSpPr>
          <p:cNvPr id="1165244118" name="Text 25"/>
          <p:cNvSpPr txBox="1"/>
          <p:nvPr/>
        </p:nvSpPr>
        <p:spPr bwMode="auto">
          <a:xfrm>
            <a:off x="3438144" y="58064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Sensors</a:t>
            </a:r>
            <a:endParaRPr lang="en-US" sz="1400"/>
          </a:p>
        </p:txBody>
      </p:sp>
      <p:sp>
        <p:nvSpPr>
          <p:cNvPr id="548144160" name="Shape 26"/>
          <p:cNvSpPr/>
          <p:nvPr/>
        </p:nvSpPr>
        <p:spPr bwMode="auto">
          <a:xfrm>
            <a:off x="5769864" y="6089904"/>
            <a:ext cx="649224" cy="9144"/>
          </a:xfrm>
          <a:prstGeom prst="line">
            <a:avLst/>
          </a:prstGeom>
          <a:noFill/>
          <a:ln w="25400">
            <a:solidFill>
              <a:srgbClr val="6FA37D"/>
            </a:solidFill>
            <a:prstDash val="solid"/>
            <a:tailEnd type="triangle"/>
          </a:ln>
        </p:spPr>
      </p:sp>
      <p:sp>
        <p:nvSpPr>
          <p:cNvPr id="748265825" name="Shape 27"/>
          <p:cNvSpPr/>
          <p:nvPr/>
        </p:nvSpPr>
        <p:spPr bwMode="auto">
          <a:xfrm>
            <a:off x="6419088" y="580644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153A2B"/>
          </a:solidFill>
          <a:ln/>
        </p:spPr>
      </p:sp>
      <p:sp>
        <p:nvSpPr>
          <p:cNvPr id="799444909" name="Text 28"/>
          <p:cNvSpPr txBox="1"/>
          <p:nvPr/>
        </p:nvSpPr>
        <p:spPr bwMode="auto">
          <a:xfrm>
            <a:off x="6419088" y="58064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Spatial Data</a:t>
            </a:r>
            <a:endParaRPr lang="en-US" sz="1400"/>
          </a:p>
        </p:txBody>
      </p:sp>
      <p:sp>
        <p:nvSpPr>
          <p:cNvPr id="2131489511" name="Shape 29"/>
          <p:cNvSpPr/>
          <p:nvPr/>
        </p:nvSpPr>
        <p:spPr bwMode="auto">
          <a:xfrm>
            <a:off x="8750808" y="6089904"/>
            <a:ext cx="649224" cy="9144"/>
          </a:xfrm>
          <a:prstGeom prst="line">
            <a:avLst/>
          </a:prstGeom>
          <a:noFill/>
          <a:ln w="25400">
            <a:solidFill>
              <a:srgbClr val="6FA37D"/>
            </a:solidFill>
            <a:prstDash val="solid"/>
            <a:tailEnd type="triangle"/>
          </a:ln>
        </p:spPr>
      </p:sp>
      <p:sp>
        <p:nvSpPr>
          <p:cNvPr id="1268401702" name="Shape 30"/>
          <p:cNvSpPr/>
          <p:nvPr/>
        </p:nvSpPr>
        <p:spPr bwMode="auto">
          <a:xfrm>
            <a:off x="9400032" y="580644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C98A3D"/>
          </a:solidFill>
          <a:ln/>
        </p:spPr>
      </p:sp>
      <p:sp>
        <p:nvSpPr>
          <p:cNvPr id="1651086108" name="Text 31"/>
          <p:cNvSpPr txBox="1"/>
          <p:nvPr/>
        </p:nvSpPr>
        <p:spPr bwMode="auto">
          <a:xfrm>
            <a:off x="9400032" y="58064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Decisions</a:t>
            </a:r>
            <a:endParaRPr lang="en-US" sz="1400"/>
          </a:p>
        </p:txBody>
      </p:sp>
      <p:sp>
        <p:nvSpPr>
          <p:cNvPr id="956686309" name="Text 33"/>
          <p:cNvSpPr txBox="1"/>
          <p:nvPr/>
        </p:nvSpPr>
        <p:spPr bwMode="auto"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655A"/>
                </a:solidFill>
                <a:latin typeface="Calibri"/>
                <a:ea typeface="Calibri"/>
                <a:cs typeface="Calibri"/>
              </a:rPr>
              <a:t>02 / 16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28799" name="Shape 0"/>
          <p:cNvSpPr/>
          <p:nvPr/>
        </p:nvSpPr>
        <p:spPr bwMode="auto">
          <a:xfrm>
            <a:off x="256032" y="402336"/>
            <a:ext cx="54864" cy="1106424"/>
          </a:xfrm>
          <a:prstGeom prst="rect">
            <a:avLst/>
          </a:prstGeom>
          <a:solidFill>
            <a:srgbClr val="C98A3D"/>
          </a:solidFill>
          <a:ln/>
        </p:spPr>
      </p:sp>
      <p:sp>
        <p:nvSpPr>
          <p:cNvPr id="360590593" name="Text 1"/>
          <p:cNvSpPr txBox="1"/>
          <p:nvPr/>
        </p:nvSpPr>
        <p:spPr bwMode="auto">
          <a:xfrm>
            <a:off x="502920" y="384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BASELINE</a:t>
            </a:r>
            <a:endParaRPr lang="en-US" sz="1200"/>
          </a:p>
        </p:txBody>
      </p:sp>
      <p:sp>
        <p:nvSpPr>
          <p:cNvPr id="1374413" name="Text 2"/>
          <p:cNvSpPr txBox="1"/>
          <p:nvPr/>
        </p:nvSpPr>
        <p:spPr bwMode="auto">
          <a:xfrm>
            <a:off x="457200" y="62179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300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Existing System</a:t>
            </a:r>
            <a:endParaRPr lang="en-US" sz="3000"/>
          </a:p>
        </p:txBody>
      </p:sp>
      <p:sp>
        <p:nvSpPr>
          <p:cNvPr id="821398303" name="Text 3"/>
          <p:cNvSpPr txBox="1"/>
          <p:nvPr/>
        </p:nvSpPr>
        <p:spPr bwMode="auto">
          <a:xfrm>
            <a:off x="45720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51655A"/>
                </a:solidFill>
                <a:latin typeface="Calibri"/>
                <a:ea typeface="Calibri"/>
                <a:cs typeface="Calibri"/>
              </a:rPr>
              <a:t>Traditional Sensor Analysis — how field-sensor queries are conventionally handled</a:t>
            </a:r>
            <a:endParaRPr lang="en-US" sz="1300"/>
          </a:p>
        </p:txBody>
      </p:sp>
      <p:sp>
        <p:nvSpPr>
          <p:cNvPr id="1680303708" name="Shape 4"/>
          <p:cNvSpPr/>
          <p:nvPr/>
        </p:nvSpPr>
        <p:spPr bwMode="auto">
          <a:xfrm>
            <a:off x="1280160" y="1965960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EEF4EE"/>
          </a:solidFill>
          <a:ln w="12700">
            <a:solidFill>
              <a:srgbClr val="153A2B"/>
            </a:solidFill>
            <a:prstDash val="solid"/>
          </a:ln>
        </p:spPr>
      </p:sp>
      <p:sp>
        <p:nvSpPr>
          <p:cNvPr id="500125316" name="Text 5"/>
          <p:cNvSpPr txBox="1"/>
          <p:nvPr/>
        </p:nvSpPr>
        <p:spPr bwMode="auto">
          <a:xfrm>
            <a:off x="1280160" y="196596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Sensor Dataset</a:t>
            </a:r>
            <a:endParaRPr lang="en-US" sz="1300"/>
          </a:p>
        </p:txBody>
      </p:sp>
      <p:sp>
        <p:nvSpPr>
          <p:cNvPr id="1588985986" name="Shape 6"/>
          <p:cNvSpPr/>
          <p:nvPr/>
        </p:nvSpPr>
        <p:spPr bwMode="auto">
          <a:xfrm>
            <a:off x="3383280" y="2587752"/>
            <a:ext cx="9144" cy="201168"/>
          </a:xfrm>
          <a:prstGeom prst="line">
            <a:avLst/>
          </a:prstGeom>
          <a:noFill/>
          <a:ln w="25400">
            <a:solidFill>
              <a:srgbClr val="6FA37D"/>
            </a:solidFill>
            <a:prstDash val="solid"/>
            <a:tailEnd type="triangle"/>
          </a:ln>
        </p:spPr>
      </p:sp>
      <p:sp>
        <p:nvSpPr>
          <p:cNvPr id="2033485902" name="Shape 7"/>
          <p:cNvSpPr/>
          <p:nvPr/>
        </p:nvSpPr>
        <p:spPr bwMode="auto">
          <a:xfrm>
            <a:off x="1280160" y="2788920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EEF4EE"/>
          </a:solidFill>
          <a:ln w="12700">
            <a:solidFill>
              <a:srgbClr val="153A2B"/>
            </a:solidFill>
            <a:prstDash val="solid"/>
          </a:ln>
        </p:spPr>
      </p:sp>
      <p:sp>
        <p:nvSpPr>
          <p:cNvPr id="662996340" name="Text 8"/>
          <p:cNvSpPr txBox="1"/>
          <p:nvPr/>
        </p:nvSpPr>
        <p:spPr bwMode="auto">
          <a:xfrm>
            <a:off x="1280160" y="278892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Sequential Scan</a:t>
            </a:r>
            <a:endParaRPr lang="en-US" sz="1300"/>
          </a:p>
        </p:txBody>
      </p:sp>
      <p:sp>
        <p:nvSpPr>
          <p:cNvPr id="1852571603" name="Shape 9"/>
          <p:cNvSpPr/>
          <p:nvPr/>
        </p:nvSpPr>
        <p:spPr bwMode="auto">
          <a:xfrm>
            <a:off x="3383280" y="3410712"/>
            <a:ext cx="9144" cy="201168"/>
          </a:xfrm>
          <a:prstGeom prst="line">
            <a:avLst/>
          </a:prstGeom>
          <a:noFill/>
          <a:ln w="25400">
            <a:solidFill>
              <a:srgbClr val="6FA37D"/>
            </a:solidFill>
            <a:prstDash val="solid"/>
            <a:tailEnd type="triangle"/>
          </a:ln>
        </p:spPr>
      </p:sp>
      <p:sp>
        <p:nvSpPr>
          <p:cNvPr id="757226197" name="Shape 10"/>
          <p:cNvSpPr/>
          <p:nvPr/>
        </p:nvSpPr>
        <p:spPr bwMode="auto">
          <a:xfrm>
            <a:off x="1280160" y="3611880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EEF4EE"/>
          </a:solidFill>
          <a:ln w="12700">
            <a:solidFill>
              <a:srgbClr val="153A2B"/>
            </a:solidFill>
            <a:prstDash val="solid"/>
          </a:ln>
        </p:spPr>
      </p:sp>
      <p:sp>
        <p:nvSpPr>
          <p:cNvPr id="1197374798" name="Text 11"/>
          <p:cNvSpPr txBox="1"/>
          <p:nvPr/>
        </p:nvSpPr>
        <p:spPr bwMode="auto">
          <a:xfrm>
            <a:off x="1280160" y="361188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Check every sensor</a:t>
            </a:r>
            <a:endParaRPr lang="en-US" sz="1300"/>
          </a:p>
        </p:txBody>
      </p:sp>
      <p:sp>
        <p:nvSpPr>
          <p:cNvPr id="793774771" name="Shape 12"/>
          <p:cNvSpPr/>
          <p:nvPr/>
        </p:nvSpPr>
        <p:spPr bwMode="auto">
          <a:xfrm>
            <a:off x="3383280" y="4233672"/>
            <a:ext cx="9144" cy="201168"/>
          </a:xfrm>
          <a:prstGeom prst="line">
            <a:avLst/>
          </a:prstGeom>
          <a:noFill/>
          <a:ln w="25400">
            <a:solidFill>
              <a:srgbClr val="6FA37D"/>
            </a:solidFill>
            <a:prstDash val="solid"/>
            <a:tailEnd type="triangle"/>
          </a:ln>
        </p:spPr>
      </p:sp>
      <p:sp>
        <p:nvSpPr>
          <p:cNvPr id="672609814" name="Shape 13"/>
          <p:cNvSpPr/>
          <p:nvPr/>
        </p:nvSpPr>
        <p:spPr bwMode="auto">
          <a:xfrm>
            <a:off x="1280160" y="4434840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EEF4EE"/>
          </a:solidFill>
          <a:ln w="12700">
            <a:solidFill>
              <a:srgbClr val="153A2B"/>
            </a:solidFill>
            <a:prstDash val="solid"/>
          </a:ln>
        </p:spPr>
      </p:sp>
      <p:sp>
        <p:nvSpPr>
          <p:cNvPr id="142753432" name="Text 14"/>
          <p:cNvSpPr txBox="1"/>
          <p:nvPr/>
        </p:nvSpPr>
        <p:spPr bwMode="auto">
          <a:xfrm>
            <a:off x="1280160" y="443484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Identify required sensors</a:t>
            </a:r>
            <a:endParaRPr lang="en-US" sz="1300"/>
          </a:p>
        </p:txBody>
      </p:sp>
      <p:sp>
        <p:nvSpPr>
          <p:cNvPr id="641195447" name="Shape 15"/>
          <p:cNvSpPr/>
          <p:nvPr/>
        </p:nvSpPr>
        <p:spPr bwMode="auto">
          <a:xfrm>
            <a:off x="3383280" y="5056632"/>
            <a:ext cx="9144" cy="201168"/>
          </a:xfrm>
          <a:prstGeom prst="line">
            <a:avLst/>
          </a:prstGeom>
          <a:noFill/>
          <a:ln w="25400">
            <a:solidFill>
              <a:srgbClr val="6FA37D"/>
            </a:solidFill>
            <a:prstDash val="solid"/>
            <a:tailEnd type="triangle"/>
          </a:ln>
        </p:spPr>
      </p:sp>
      <p:sp>
        <p:nvSpPr>
          <p:cNvPr id="573379624" name="Shape 16"/>
          <p:cNvSpPr/>
          <p:nvPr/>
        </p:nvSpPr>
        <p:spPr bwMode="auto">
          <a:xfrm>
            <a:off x="1280160" y="5257800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EEF4EE"/>
          </a:solidFill>
          <a:ln w="12700">
            <a:solidFill>
              <a:srgbClr val="153A2B"/>
            </a:solidFill>
            <a:prstDash val="solid"/>
          </a:ln>
        </p:spPr>
      </p:sp>
      <p:sp>
        <p:nvSpPr>
          <p:cNvPr id="1940927389" name="Text 17"/>
          <p:cNvSpPr txBox="1"/>
          <p:nvPr/>
        </p:nvSpPr>
        <p:spPr bwMode="auto">
          <a:xfrm>
            <a:off x="1280160" y="525780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Generate decision</a:t>
            </a:r>
            <a:endParaRPr lang="en-US" sz="1300"/>
          </a:p>
        </p:txBody>
      </p:sp>
      <p:sp>
        <p:nvSpPr>
          <p:cNvPr id="1176186957" name="Shape 18"/>
          <p:cNvSpPr/>
          <p:nvPr/>
        </p:nvSpPr>
        <p:spPr bwMode="auto">
          <a:xfrm>
            <a:off x="6035039" y="1965960"/>
            <a:ext cx="5669280" cy="1874520"/>
          </a:xfrm>
          <a:prstGeom prst="roundRect">
            <a:avLst>
              <a:gd name="adj" fmla="val 3902"/>
            </a:avLst>
          </a:prstGeom>
          <a:solidFill>
            <a:srgbClr val="FBF3E7"/>
          </a:solidFill>
          <a:ln/>
          <a:effectLst>
            <a:outerShdw blurRad="76200" dist="25400" dir="5400000" sx="100000" sy="100000" kx="0" ky="0" algn="bl" rotWithShape="0">
              <a:srgbClr val="153A2B">
                <a:alpha val="12000"/>
              </a:srgbClr>
            </a:outerShdw>
          </a:effectLst>
        </p:spPr>
      </p:sp>
      <p:sp>
        <p:nvSpPr>
          <p:cNvPr id="750443287" name="Text 19"/>
          <p:cNvSpPr txBox="1"/>
          <p:nvPr/>
        </p:nvSpPr>
        <p:spPr bwMode="auto">
          <a:xfrm>
            <a:off x="6263640" y="21214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 spc="50">
                <a:solidFill>
                  <a:srgbClr val="9C6A28"/>
                </a:solidFill>
                <a:latin typeface="Calibri"/>
                <a:ea typeface="Calibri"/>
                <a:cs typeface="Calibri"/>
              </a:rPr>
              <a:t>HOW IT WORKS TODAY</a:t>
            </a:r>
            <a:endParaRPr lang="en-US" sz="1050"/>
          </a:p>
        </p:txBody>
      </p:sp>
      <p:sp>
        <p:nvSpPr>
          <p:cNvPr id="539186359" name="Text 20"/>
          <p:cNvSpPr txBox="1"/>
          <p:nvPr/>
        </p:nvSpPr>
        <p:spPr bwMode="auto">
          <a:xfrm>
            <a:off x="6263640" y="2395728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  <a:defRPr/>
            </a:pPr>
            <a:r>
              <a:rPr lang="en-US" sz="105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Sensor readings are commonly stored as sequential records.</a:t>
            </a:r>
            <a:endParaRPr lang="en-US" sz="1050"/>
          </a:p>
          <a:p>
            <a:pPr marL="177800" indent="-177800">
              <a:spcAft>
                <a:spcPts val="600"/>
              </a:spcAft>
              <a:buSzPct val="100000"/>
              <a:buChar char="▪"/>
              <a:defRPr/>
            </a:pPr>
            <a:r>
              <a:rPr lang="en-US" sz="105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Queries can require scanning multiple or all sensor records.</a:t>
            </a:r>
            <a:endParaRPr lang="en-US" sz="1050"/>
          </a:p>
          <a:p>
            <a:pPr marL="177800" indent="-177800">
              <a:spcAft>
                <a:spcPts val="600"/>
              </a:spcAft>
              <a:buSzPct val="100000"/>
              <a:buChar char="▪"/>
              <a:defRPr/>
            </a:pPr>
            <a:r>
              <a:rPr lang="en-US" sz="105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Spatial conditions are evaluated individually for each sensor.</a:t>
            </a:r>
            <a:endParaRPr lang="en-US" sz="1050"/>
          </a:p>
          <a:p>
            <a:pPr marL="177800" indent="-177800">
              <a:spcAft>
                <a:spcPts val="600"/>
              </a:spcAft>
              <a:buSzPct val="100000"/>
              <a:buChar char="▪"/>
              <a:defRPr/>
            </a:pPr>
            <a:r>
              <a:rPr lang="en-US" sz="105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Irrigation decisions are then generated from the retrieved readings.</a:t>
            </a:r>
            <a:endParaRPr lang="en-US" sz="1050"/>
          </a:p>
        </p:txBody>
      </p:sp>
      <p:sp>
        <p:nvSpPr>
          <p:cNvPr id="2137110639" name="Shape 21"/>
          <p:cNvSpPr/>
          <p:nvPr/>
        </p:nvSpPr>
        <p:spPr bwMode="auto">
          <a:xfrm>
            <a:off x="6035039" y="4041648"/>
            <a:ext cx="5669280" cy="960120"/>
          </a:xfrm>
          <a:prstGeom prst="roundRect">
            <a:avLst>
              <a:gd name="adj" fmla="val 7619"/>
            </a:avLst>
          </a:prstGeom>
          <a:solidFill>
            <a:srgbClr val="0A1F15"/>
          </a:solidFill>
          <a:ln/>
        </p:spPr>
      </p:sp>
      <p:sp>
        <p:nvSpPr>
          <p:cNvPr id="471425537" name="Text 22"/>
          <p:cNvSpPr txBox="1"/>
          <p:nvPr/>
        </p:nvSpPr>
        <p:spPr bwMode="auto">
          <a:xfrm>
            <a:off x="6263640" y="404164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Key complexity:  </a:t>
            </a:r>
            <a:r>
              <a:rPr lang="en-US" sz="18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Linear search → O(n)</a:t>
            </a:r>
            <a:endParaRPr lang="en-US" sz="1500"/>
          </a:p>
        </p:txBody>
      </p:sp>
      <p:sp>
        <p:nvSpPr>
          <p:cNvPr id="498510943" name="Text 23"/>
          <p:cNvSpPr txBox="1"/>
          <p:nvPr/>
        </p:nvSpPr>
        <p:spPr bwMode="auto">
          <a:xfrm>
            <a:off x="6263640" y="45445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AFC9AF"/>
                </a:solidFill>
                <a:latin typeface="Calibri"/>
                <a:ea typeface="Calibri"/>
                <a:cs typeface="Calibri"/>
              </a:rPr>
              <a:t>This becomes the baseline we compare against throughout this project.</a:t>
            </a:r>
            <a:endParaRPr lang="en-US" sz="1000"/>
          </a:p>
        </p:txBody>
      </p:sp>
      <p:sp>
        <p:nvSpPr>
          <p:cNvPr id="1821982773" name="Shape 24"/>
          <p:cNvSpPr/>
          <p:nvPr/>
        </p:nvSpPr>
        <p:spPr bwMode="auto">
          <a:xfrm>
            <a:off x="6035039" y="5166360"/>
            <a:ext cx="5669280" cy="1234440"/>
          </a:xfrm>
          <a:prstGeom prst="roundRect">
            <a:avLst>
              <a:gd name="adj" fmla="val 5926"/>
            </a:avLst>
          </a:prstGeom>
          <a:solidFill>
            <a:srgbClr val="EEF4EE"/>
          </a:solidFill>
          <a:ln/>
          <a:effectLst>
            <a:outerShdw blurRad="76200" dist="25400" dir="5400000" sx="100000" sy="100000" kx="0" ky="0" algn="bl" rotWithShape="0">
              <a:srgbClr val="153A2B">
                <a:alpha val="12000"/>
              </a:srgbClr>
            </a:outerShdw>
          </a:effectLst>
        </p:spPr>
      </p:sp>
      <p:sp>
        <p:nvSpPr>
          <p:cNvPr id="1717441061" name="Text 25"/>
          <p:cNvSpPr txBox="1"/>
          <p:nvPr/>
        </p:nvSpPr>
        <p:spPr bwMode="auto">
          <a:xfrm>
            <a:off x="6263640" y="530352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050" i="1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This is a reasonable, widely-used approach — it is simple, correct, and easy to implement. The goal of this project is not to fault it, but to show where a spatially-indexed alternative meaningfully improves performance as sensor networks scale.</a:t>
            </a:r>
            <a:endParaRPr lang="en-US" sz="1050"/>
          </a:p>
        </p:txBody>
      </p:sp>
      <p:sp>
        <p:nvSpPr>
          <p:cNvPr id="1418217876" name="Text 27"/>
          <p:cNvSpPr txBox="1"/>
          <p:nvPr/>
        </p:nvSpPr>
        <p:spPr bwMode="auto"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655A"/>
                </a:solidFill>
                <a:latin typeface="Calibri"/>
                <a:ea typeface="Calibri"/>
                <a:cs typeface="Calibri"/>
              </a:rPr>
              <a:t>03 / 16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498316" name="Shape 0"/>
          <p:cNvSpPr/>
          <p:nvPr/>
        </p:nvSpPr>
        <p:spPr bwMode="auto">
          <a:xfrm>
            <a:off x="256032" y="402336"/>
            <a:ext cx="54864" cy="1106424"/>
          </a:xfrm>
          <a:prstGeom prst="rect">
            <a:avLst/>
          </a:prstGeom>
          <a:solidFill>
            <a:srgbClr val="C98A3D"/>
          </a:solidFill>
          <a:ln/>
        </p:spPr>
      </p:sp>
      <p:sp>
        <p:nvSpPr>
          <p:cNvPr id="1538083775" name="Text 1"/>
          <p:cNvSpPr txBox="1"/>
          <p:nvPr/>
        </p:nvSpPr>
        <p:spPr bwMode="auto">
          <a:xfrm>
            <a:off x="502920" y="384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BASELINE</a:t>
            </a:r>
            <a:endParaRPr lang="en-US" sz="1200"/>
          </a:p>
        </p:txBody>
      </p:sp>
      <p:sp>
        <p:nvSpPr>
          <p:cNvPr id="680046191" name="Text 2"/>
          <p:cNvSpPr txBox="1"/>
          <p:nvPr/>
        </p:nvSpPr>
        <p:spPr bwMode="auto">
          <a:xfrm>
            <a:off x="457200" y="62179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300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Existing System — Limitations</a:t>
            </a:r>
            <a:endParaRPr lang="en-US" sz="3000"/>
          </a:p>
        </p:txBody>
      </p:sp>
      <p:sp>
        <p:nvSpPr>
          <p:cNvPr id="1173223024" name="Shape 3"/>
          <p:cNvSpPr/>
          <p:nvPr/>
        </p:nvSpPr>
        <p:spPr bwMode="auto">
          <a:xfrm>
            <a:off x="457200" y="16002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EF4EE"/>
          </a:solidFill>
          <a:ln/>
          <a:effectLst>
            <a:outerShdw blurRad="76200" dist="25400" dir="5400000" sx="100000" sy="100000" kx="0" ky="0" algn="bl" rotWithShape="0">
              <a:srgbClr val="153A2B">
                <a:alpha val="12000"/>
              </a:srgbClr>
            </a:outerShdw>
          </a:effectLst>
        </p:spPr>
      </p:sp>
      <p:sp>
        <p:nvSpPr>
          <p:cNvPr id="641083168" name="Shape 4"/>
          <p:cNvSpPr/>
          <p:nvPr/>
        </p:nvSpPr>
        <p:spPr bwMode="auto">
          <a:xfrm>
            <a:off x="658368" y="1856232"/>
            <a:ext cx="457200" cy="457200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1299801748" name="Text 5"/>
          <p:cNvSpPr txBox="1"/>
          <p:nvPr/>
        </p:nvSpPr>
        <p:spPr bwMode="auto">
          <a:xfrm>
            <a:off x="658368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800"/>
          </a:p>
        </p:txBody>
      </p:sp>
      <p:sp>
        <p:nvSpPr>
          <p:cNvPr id="1854128980" name="Text 6"/>
          <p:cNvSpPr txBox="1"/>
          <p:nvPr/>
        </p:nvSpPr>
        <p:spPr bwMode="auto">
          <a:xfrm>
            <a:off x="1280160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Search inefficiency</a:t>
            </a:r>
            <a:endParaRPr lang="en-US" sz="1450"/>
          </a:p>
        </p:txBody>
      </p:sp>
      <p:sp>
        <p:nvSpPr>
          <p:cNvPr id="5137532" name="Text 7"/>
          <p:cNvSpPr txBox="1"/>
          <p:nvPr/>
        </p:nvSpPr>
        <p:spPr bwMode="auto">
          <a:xfrm>
            <a:off x="658368" y="2377440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0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Every sensor may need to be examined → O(n).</a:t>
            </a:r>
            <a:endParaRPr lang="en-US" sz="1200"/>
          </a:p>
        </p:txBody>
      </p:sp>
      <p:sp>
        <p:nvSpPr>
          <p:cNvPr id="619616456" name="Shape 8"/>
          <p:cNvSpPr/>
          <p:nvPr/>
        </p:nvSpPr>
        <p:spPr bwMode="auto">
          <a:xfrm>
            <a:off x="6035039" y="16002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EF4EE"/>
          </a:solidFill>
          <a:ln/>
          <a:effectLst>
            <a:outerShdw blurRad="76200" dist="25400" dir="5400000" sx="100000" sy="100000" kx="0" ky="0" algn="bl" rotWithShape="0">
              <a:srgbClr val="153A2B">
                <a:alpha val="12000"/>
              </a:srgbClr>
            </a:outerShdw>
          </a:effectLst>
        </p:spPr>
      </p:sp>
      <p:sp>
        <p:nvSpPr>
          <p:cNvPr id="999635395" name="Shape 9"/>
          <p:cNvSpPr/>
          <p:nvPr/>
        </p:nvSpPr>
        <p:spPr bwMode="auto">
          <a:xfrm>
            <a:off x="6236208" y="1856232"/>
            <a:ext cx="457200" cy="457200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998223567" name="Text 10"/>
          <p:cNvSpPr txBox="1"/>
          <p:nvPr/>
        </p:nvSpPr>
        <p:spPr bwMode="auto">
          <a:xfrm>
            <a:off x="6236208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800"/>
          </a:p>
        </p:txBody>
      </p:sp>
      <p:sp>
        <p:nvSpPr>
          <p:cNvPr id="1562130192" name="Text 11"/>
          <p:cNvSpPr txBox="1"/>
          <p:nvPr/>
        </p:nvSpPr>
        <p:spPr bwMode="auto">
          <a:xfrm>
            <a:off x="6858000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Poor scalability</a:t>
            </a:r>
            <a:endParaRPr lang="en-US" sz="1450"/>
          </a:p>
        </p:txBody>
      </p:sp>
      <p:sp>
        <p:nvSpPr>
          <p:cNvPr id="145975806" name="Text 12"/>
          <p:cNvSpPr txBox="1"/>
          <p:nvPr/>
        </p:nvSpPr>
        <p:spPr bwMode="auto">
          <a:xfrm>
            <a:off x="6236208" y="2377440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0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Search cost increases directly with the number of sensors.</a:t>
            </a:r>
            <a:endParaRPr lang="en-US" sz="1200"/>
          </a:p>
        </p:txBody>
      </p:sp>
      <p:sp>
        <p:nvSpPr>
          <p:cNvPr id="1245189629" name="Shape 13"/>
          <p:cNvSpPr/>
          <p:nvPr/>
        </p:nvSpPr>
        <p:spPr bwMode="auto">
          <a:xfrm>
            <a:off x="457200" y="32004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EF4EE"/>
          </a:solidFill>
          <a:ln/>
          <a:effectLst>
            <a:outerShdw blurRad="76200" dist="25400" dir="5400000" sx="100000" sy="100000" kx="0" ky="0" algn="bl" rotWithShape="0">
              <a:srgbClr val="153A2B">
                <a:alpha val="12000"/>
              </a:srgbClr>
            </a:outerShdw>
          </a:effectLst>
        </p:spPr>
      </p:sp>
      <p:sp>
        <p:nvSpPr>
          <p:cNvPr id="127183390" name="Shape 14"/>
          <p:cNvSpPr/>
          <p:nvPr/>
        </p:nvSpPr>
        <p:spPr bwMode="auto">
          <a:xfrm>
            <a:off x="658368" y="3456432"/>
            <a:ext cx="457200" cy="457200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135821265" name="Text 15"/>
          <p:cNvSpPr txBox="1"/>
          <p:nvPr/>
        </p:nvSpPr>
        <p:spPr bwMode="auto">
          <a:xfrm>
            <a:off x="658368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800"/>
          </a:p>
        </p:txBody>
      </p:sp>
      <p:sp>
        <p:nvSpPr>
          <p:cNvPr id="63727551" name="Text 16"/>
          <p:cNvSpPr txBox="1"/>
          <p:nvPr/>
        </p:nvSpPr>
        <p:spPr bwMode="auto">
          <a:xfrm>
            <a:off x="1280160" y="3383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Repeated spatial processing</a:t>
            </a:r>
            <a:endParaRPr lang="en-US" sz="1450"/>
          </a:p>
        </p:txBody>
      </p:sp>
      <p:sp>
        <p:nvSpPr>
          <p:cNvPr id="1353310576" name="Text 17"/>
          <p:cNvSpPr txBox="1"/>
          <p:nvPr/>
        </p:nvSpPr>
        <p:spPr bwMode="auto">
          <a:xfrm>
            <a:off x="658368" y="3977640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0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Different queries repeatedly examine the same coordinate data.</a:t>
            </a:r>
            <a:endParaRPr lang="en-US" sz="1200"/>
          </a:p>
        </p:txBody>
      </p:sp>
      <p:sp>
        <p:nvSpPr>
          <p:cNvPr id="245872156" name="Shape 18"/>
          <p:cNvSpPr/>
          <p:nvPr/>
        </p:nvSpPr>
        <p:spPr bwMode="auto">
          <a:xfrm>
            <a:off x="6035039" y="32004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EF4EE"/>
          </a:solidFill>
          <a:ln/>
          <a:effectLst>
            <a:outerShdw blurRad="76200" dist="25400" dir="5400000" sx="100000" sy="100000" kx="0" ky="0" algn="bl" rotWithShape="0">
              <a:srgbClr val="153A2B">
                <a:alpha val="12000"/>
              </a:srgbClr>
            </a:outerShdw>
          </a:effectLst>
        </p:spPr>
      </p:sp>
      <p:sp>
        <p:nvSpPr>
          <p:cNvPr id="1602329738" name="Shape 19"/>
          <p:cNvSpPr/>
          <p:nvPr/>
        </p:nvSpPr>
        <p:spPr bwMode="auto">
          <a:xfrm>
            <a:off x="6236208" y="3456432"/>
            <a:ext cx="457200" cy="457200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1084200511" name="Text 20"/>
          <p:cNvSpPr txBox="1"/>
          <p:nvPr/>
        </p:nvSpPr>
        <p:spPr bwMode="auto">
          <a:xfrm>
            <a:off x="6236208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lang="en-US" sz="1800"/>
          </a:p>
        </p:txBody>
      </p:sp>
      <p:sp>
        <p:nvSpPr>
          <p:cNvPr id="111265057" name="Text 21"/>
          <p:cNvSpPr txBox="1"/>
          <p:nvPr/>
        </p:nvSpPr>
        <p:spPr bwMode="auto">
          <a:xfrm>
            <a:off x="6858000" y="3383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Limited real-time responsiveness</a:t>
            </a:r>
            <a:endParaRPr lang="en-US" sz="1450"/>
          </a:p>
        </p:txBody>
      </p:sp>
      <p:sp>
        <p:nvSpPr>
          <p:cNvPr id="1236889367" name="Text 22"/>
          <p:cNvSpPr txBox="1"/>
          <p:nvPr/>
        </p:nvSpPr>
        <p:spPr bwMode="auto">
          <a:xfrm>
            <a:off x="6236208" y="3977640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0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Large datasets can delay location, range and nearest-sensor queries.</a:t>
            </a:r>
            <a:endParaRPr lang="en-US" sz="1200"/>
          </a:p>
        </p:txBody>
      </p:sp>
      <p:sp>
        <p:nvSpPr>
          <p:cNvPr id="1576390130" name="Shape 23"/>
          <p:cNvSpPr/>
          <p:nvPr/>
        </p:nvSpPr>
        <p:spPr bwMode="auto">
          <a:xfrm>
            <a:off x="457200" y="4846320"/>
            <a:ext cx="3636264" cy="713232"/>
          </a:xfrm>
          <a:prstGeom prst="roundRect">
            <a:avLst>
              <a:gd name="adj" fmla="val 10256"/>
            </a:avLst>
          </a:prstGeom>
          <a:solidFill>
            <a:srgbClr val="0A1F15"/>
          </a:solidFill>
          <a:ln/>
        </p:spPr>
      </p:sp>
      <p:sp>
        <p:nvSpPr>
          <p:cNvPr id="1552428240" name="Text 24"/>
          <p:cNvSpPr txBox="1"/>
          <p:nvPr/>
        </p:nvSpPr>
        <p:spPr bwMode="auto">
          <a:xfrm>
            <a:off x="640080" y="4846320"/>
            <a:ext cx="3270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 sensors  </a:t>
            </a:r>
            <a:r>
              <a:rPr lang="en-US" sz="1200" i="1">
                <a:solidFill>
                  <a:srgbClr val="2E7D52"/>
                </a:solidFill>
                <a:latin typeface="Calibri"/>
                <a:ea typeface="Calibri"/>
                <a:cs typeface="Calibri"/>
              </a:rPr>
              <a:t>→ manageable</a:t>
            </a:r>
            <a:endParaRPr lang="en-US" sz="1300"/>
          </a:p>
        </p:txBody>
      </p:sp>
      <p:sp>
        <p:nvSpPr>
          <p:cNvPr id="398760920" name="Shape 25"/>
          <p:cNvSpPr/>
          <p:nvPr/>
        </p:nvSpPr>
        <p:spPr bwMode="auto">
          <a:xfrm>
            <a:off x="4276344" y="4846320"/>
            <a:ext cx="3636264" cy="713232"/>
          </a:xfrm>
          <a:prstGeom prst="roundRect">
            <a:avLst>
              <a:gd name="adj" fmla="val 10256"/>
            </a:avLst>
          </a:prstGeom>
          <a:solidFill>
            <a:srgbClr val="0A1F15"/>
          </a:solidFill>
          <a:ln/>
        </p:spPr>
      </p:sp>
      <p:sp>
        <p:nvSpPr>
          <p:cNvPr id="602065915" name="Text 26"/>
          <p:cNvSpPr txBox="1"/>
          <p:nvPr/>
        </p:nvSpPr>
        <p:spPr bwMode="auto">
          <a:xfrm>
            <a:off x="4459224" y="4846320"/>
            <a:ext cx="3270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1,000 sensors  </a:t>
            </a:r>
            <a:r>
              <a:rPr lang="en-US" sz="1200" i="1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→ more scanning</a:t>
            </a:r>
            <a:endParaRPr lang="en-US" sz="1300"/>
          </a:p>
        </p:txBody>
      </p:sp>
      <p:sp>
        <p:nvSpPr>
          <p:cNvPr id="369003967" name="Shape 27"/>
          <p:cNvSpPr/>
          <p:nvPr/>
        </p:nvSpPr>
        <p:spPr bwMode="auto">
          <a:xfrm>
            <a:off x="8095488" y="4846320"/>
            <a:ext cx="3636264" cy="713232"/>
          </a:xfrm>
          <a:prstGeom prst="roundRect">
            <a:avLst>
              <a:gd name="adj" fmla="val 10256"/>
            </a:avLst>
          </a:prstGeom>
          <a:solidFill>
            <a:srgbClr val="0A1F15"/>
          </a:solidFill>
          <a:ln/>
        </p:spPr>
      </p:sp>
      <p:sp>
        <p:nvSpPr>
          <p:cNvPr id="1237173607" name="Text 28"/>
          <p:cNvSpPr txBox="1"/>
          <p:nvPr/>
        </p:nvSpPr>
        <p:spPr bwMode="auto">
          <a:xfrm>
            <a:off x="8278368" y="4846320"/>
            <a:ext cx="3270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100,000 sensors  </a:t>
            </a:r>
            <a:r>
              <a:rPr lang="en-US" sz="1200" i="1">
                <a:solidFill>
                  <a:srgbClr val="B5533C"/>
                </a:solidFill>
                <a:latin typeface="Calibri"/>
                <a:ea typeface="Calibri"/>
                <a:cs typeface="Calibri"/>
              </a:rPr>
              <a:t>→ expensive scanning</a:t>
            </a:r>
            <a:endParaRPr lang="en-US" sz="1300"/>
          </a:p>
        </p:txBody>
      </p:sp>
      <p:sp>
        <p:nvSpPr>
          <p:cNvPr id="1199944209" name="Shape 29"/>
          <p:cNvSpPr/>
          <p:nvPr/>
        </p:nvSpPr>
        <p:spPr bwMode="auto">
          <a:xfrm>
            <a:off x="457200" y="5742432"/>
            <a:ext cx="11274552" cy="530352"/>
          </a:xfrm>
          <a:prstGeom prst="roundRect">
            <a:avLst>
              <a:gd name="adj" fmla="val 13793"/>
            </a:avLst>
          </a:prstGeom>
          <a:solidFill>
            <a:srgbClr val="C98A3D"/>
          </a:solidFill>
          <a:ln/>
        </p:spPr>
      </p:sp>
      <p:sp>
        <p:nvSpPr>
          <p:cNvPr id="221070254" name="Text 30"/>
          <p:cNvSpPr txBox="1"/>
          <p:nvPr/>
        </p:nvSpPr>
        <p:spPr bwMode="auto">
          <a:xfrm>
            <a:off x="457200" y="5742432"/>
            <a:ext cx="11274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Need  →  Spatial Indexing</a:t>
            </a:r>
            <a:endParaRPr lang="en-US" sz="1700"/>
          </a:p>
        </p:txBody>
      </p:sp>
      <p:sp>
        <p:nvSpPr>
          <p:cNvPr id="1204183297" name="Text 32"/>
          <p:cNvSpPr txBox="1"/>
          <p:nvPr/>
        </p:nvSpPr>
        <p:spPr bwMode="auto"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655A"/>
                </a:solidFill>
                <a:latin typeface="Calibri"/>
                <a:ea typeface="Calibri"/>
                <a:cs typeface="Calibri"/>
              </a:rPr>
              <a:t>04 / 16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5871624" name="Shape 0"/>
          <p:cNvSpPr/>
          <p:nvPr/>
        </p:nvSpPr>
        <p:spPr bwMode="auto">
          <a:xfrm>
            <a:off x="256032" y="402336"/>
            <a:ext cx="54864" cy="1106424"/>
          </a:xfrm>
          <a:prstGeom prst="rect">
            <a:avLst/>
          </a:prstGeom>
          <a:solidFill>
            <a:srgbClr val="C98A3D"/>
          </a:solidFill>
          <a:ln/>
        </p:spPr>
      </p:sp>
      <p:sp>
        <p:nvSpPr>
          <p:cNvPr id="388638733" name="Text 1"/>
          <p:cNvSpPr txBox="1"/>
          <p:nvPr/>
        </p:nvSpPr>
        <p:spPr bwMode="auto">
          <a:xfrm>
            <a:off x="502920" y="384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DIRECTION</a:t>
            </a:r>
            <a:endParaRPr lang="en-US" sz="1200"/>
          </a:p>
        </p:txBody>
      </p:sp>
      <p:sp>
        <p:nvSpPr>
          <p:cNvPr id="212932423" name="Text 2"/>
          <p:cNvSpPr txBox="1"/>
          <p:nvPr/>
        </p:nvSpPr>
        <p:spPr bwMode="auto">
          <a:xfrm>
            <a:off x="457200" y="62179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300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Problem Statement &amp; Objectives</a:t>
            </a:r>
            <a:endParaRPr lang="en-US" sz="3000"/>
          </a:p>
        </p:txBody>
      </p:sp>
      <p:sp>
        <p:nvSpPr>
          <p:cNvPr id="864707942" name="Shape 3"/>
          <p:cNvSpPr/>
          <p:nvPr/>
        </p:nvSpPr>
        <p:spPr bwMode="auto">
          <a:xfrm>
            <a:off x="457200" y="1554480"/>
            <a:ext cx="11274552" cy="1737360"/>
          </a:xfrm>
          <a:prstGeom prst="roundRect">
            <a:avLst>
              <a:gd name="adj" fmla="val 4211"/>
            </a:avLst>
          </a:prstGeom>
          <a:solidFill>
            <a:srgbClr val="0A1F15"/>
          </a:solidFill>
          <a:ln/>
        </p:spPr>
      </p:sp>
      <p:sp>
        <p:nvSpPr>
          <p:cNvPr id="1759037030" name="Text 4"/>
          <p:cNvSpPr txBox="1"/>
          <p:nvPr/>
        </p:nvSpPr>
        <p:spPr bwMode="auto">
          <a:xfrm>
            <a:off x="7772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PROBLEM STATEMENT</a:t>
            </a:r>
            <a:endParaRPr lang="en-US" sz="1100"/>
          </a:p>
        </p:txBody>
      </p:sp>
      <p:sp>
        <p:nvSpPr>
          <p:cNvPr id="1662532752" name="Text 5"/>
          <p:cNvSpPr txBox="1"/>
          <p:nvPr/>
        </p:nvSpPr>
        <p:spPr bwMode="auto">
          <a:xfrm>
            <a:off x="777240" y="2029968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Agricultural sensor datasets contain spatially distributed measurements that must be searched and analyzed efficiently. Sequentially scanning all sensors for point, range, nearest-neighbor and moisture-based queries results in unnecessary computation as dataset size increases. The project therefore develops a spatial analytics system using KD-Trees, Orthogonal Range Trees and Fractional Cascading to improve sensor retrieval and support localized irrigation and soil-management decisions.</a:t>
            </a:r>
            <a:endParaRPr lang="en-US" sz="1300"/>
          </a:p>
        </p:txBody>
      </p:sp>
      <p:sp>
        <p:nvSpPr>
          <p:cNvPr id="231593917" name="Text 6"/>
          <p:cNvSpPr txBox="1"/>
          <p:nvPr/>
        </p:nvSpPr>
        <p:spPr bwMode="auto">
          <a:xfrm>
            <a:off x="45720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100">
                <a:solidFill>
                  <a:srgbClr val="153A2B"/>
                </a:solidFill>
                <a:latin typeface="Calibri"/>
                <a:ea typeface="Calibri"/>
                <a:cs typeface="Calibri"/>
              </a:rPr>
              <a:t>OBJECTIVES</a:t>
            </a:r>
            <a:endParaRPr lang="en-US" sz="1300"/>
          </a:p>
        </p:txBody>
      </p:sp>
      <p:sp>
        <p:nvSpPr>
          <p:cNvPr id="1992827269" name="Shape 7"/>
          <p:cNvSpPr/>
          <p:nvPr/>
        </p:nvSpPr>
        <p:spPr bwMode="auto">
          <a:xfrm>
            <a:off x="457200" y="3886200"/>
            <a:ext cx="384048" cy="384048"/>
          </a:xfrm>
          <a:prstGeom prst="ellipse">
            <a:avLst/>
          </a:prstGeom>
          <a:solidFill>
            <a:srgbClr val="C98A3D"/>
          </a:solidFill>
          <a:ln/>
        </p:spPr>
      </p:sp>
      <p:sp>
        <p:nvSpPr>
          <p:cNvPr id="1922922397" name="Text 8"/>
          <p:cNvSpPr txBox="1"/>
          <p:nvPr/>
        </p:nvSpPr>
        <p:spPr bwMode="auto">
          <a:xfrm>
            <a:off x="4572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500"/>
          </a:p>
        </p:txBody>
      </p:sp>
      <p:sp>
        <p:nvSpPr>
          <p:cNvPr id="534467557" name="Text 9"/>
          <p:cNvSpPr txBox="1"/>
          <p:nvPr/>
        </p:nvSpPr>
        <p:spPr bwMode="auto">
          <a:xfrm>
            <a:off x="1051560" y="3867911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Store and manage multidimensional agricultural sensor data.</a:t>
            </a:r>
            <a:endParaRPr lang="en-US" sz="1350"/>
          </a:p>
        </p:txBody>
      </p:sp>
      <p:sp>
        <p:nvSpPr>
          <p:cNvPr id="1906207204" name="Shape 10"/>
          <p:cNvSpPr/>
          <p:nvPr/>
        </p:nvSpPr>
        <p:spPr bwMode="auto">
          <a:xfrm>
            <a:off x="457200" y="4384548"/>
            <a:ext cx="384048" cy="384048"/>
          </a:xfrm>
          <a:prstGeom prst="ellipse">
            <a:avLst/>
          </a:prstGeom>
          <a:solidFill>
            <a:srgbClr val="C98A3D"/>
          </a:solidFill>
          <a:ln/>
        </p:spPr>
      </p:sp>
      <p:sp>
        <p:nvSpPr>
          <p:cNvPr id="1929546189" name="Text 11"/>
          <p:cNvSpPr txBox="1"/>
          <p:nvPr/>
        </p:nvSpPr>
        <p:spPr bwMode="auto">
          <a:xfrm>
            <a:off x="457200" y="43845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500"/>
          </a:p>
        </p:txBody>
      </p:sp>
      <p:sp>
        <p:nvSpPr>
          <p:cNvPr id="849239844" name="Text 12"/>
          <p:cNvSpPr txBox="1"/>
          <p:nvPr/>
        </p:nvSpPr>
        <p:spPr bwMode="auto">
          <a:xfrm>
            <a:off x="1051560" y="43662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Implement KD-Tree for spatial nearest-neighbor retrieval.</a:t>
            </a:r>
            <a:endParaRPr lang="en-US" sz="1350"/>
          </a:p>
        </p:txBody>
      </p:sp>
      <p:sp>
        <p:nvSpPr>
          <p:cNvPr id="73838414" name="Shape 13"/>
          <p:cNvSpPr/>
          <p:nvPr/>
        </p:nvSpPr>
        <p:spPr bwMode="auto">
          <a:xfrm>
            <a:off x="457200" y="4882896"/>
            <a:ext cx="384048" cy="384048"/>
          </a:xfrm>
          <a:prstGeom prst="ellipse">
            <a:avLst/>
          </a:prstGeom>
          <a:solidFill>
            <a:srgbClr val="C98A3D"/>
          </a:solidFill>
          <a:ln/>
        </p:spPr>
      </p:sp>
      <p:sp>
        <p:nvSpPr>
          <p:cNvPr id="1367517629" name="Text 14"/>
          <p:cNvSpPr txBox="1"/>
          <p:nvPr/>
        </p:nvSpPr>
        <p:spPr bwMode="auto">
          <a:xfrm>
            <a:off x="457200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500"/>
          </a:p>
        </p:txBody>
      </p:sp>
      <p:sp>
        <p:nvSpPr>
          <p:cNvPr id="362864759" name="Text 15"/>
          <p:cNvSpPr txBox="1"/>
          <p:nvPr/>
        </p:nvSpPr>
        <p:spPr bwMode="auto">
          <a:xfrm>
            <a:off x="1051560" y="4864607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Implement Orthogonal Range Tree for rectangular spatial queries.</a:t>
            </a:r>
            <a:endParaRPr lang="en-US" sz="1350"/>
          </a:p>
        </p:txBody>
      </p:sp>
      <p:sp>
        <p:nvSpPr>
          <p:cNvPr id="417657028" name="Shape 16"/>
          <p:cNvSpPr/>
          <p:nvPr/>
        </p:nvSpPr>
        <p:spPr bwMode="auto">
          <a:xfrm>
            <a:off x="457200" y="5381244"/>
            <a:ext cx="384048" cy="384048"/>
          </a:xfrm>
          <a:prstGeom prst="ellipse">
            <a:avLst/>
          </a:prstGeom>
          <a:solidFill>
            <a:srgbClr val="C98A3D"/>
          </a:solidFill>
          <a:ln/>
        </p:spPr>
      </p:sp>
      <p:sp>
        <p:nvSpPr>
          <p:cNvPr id="1120849516" name="Text 17"/>
          <p:cNvSpPr txBox="1"/>
          <p:nvPr/>
        </p:nvSpPr>
        <p:spPr bwMode="auto">
          <a:xfrm>
            <a:off x="457200" y="5381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lang="en-US" sz="1500"/>
          </a:p>
        </p:txBody>
      </p:sp>
      <p:sp>
        <p:nvSpPr>
          <p:cNvPr id="1933517179" name="Text 18"/>
          <p:cNvSpPr txBox="1"/>
          <p:nvPr/>
        </p:nvSpPr>
        <p:spPr bwMode="auto">
          <a:xfrm>
            <a:off x="1051560" y="536295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Implement Fractional Cascading for efficient searches across related sorted catalogs.</a:t>
            </a:r>
            <a:endParaRPr lang="en-US" sz="1350"/>
          </a:p>
        </p:txBody>
      </p:sp>
      <p:sp>
        <p:nvSpPr>
          <p:cNvPr id="1010960524" name="Shape 19"/>
          <p:cNvSpPr/>
          <p:nvPr/>
        </p:nvSpPr>
        <p:spPr bwMode="auto">
          <a:xfrm>
            <a:off x="457200" y="5879592"/>
            <a:ext cx="384048" cy="384048"/>
          </a:xfrm>
          <a:prstGeom prst="ellipse">
            <a:avLst/>
          </a:prstGeom>
          <a:solidFill>
            <a:srgbClr val="C98A3D"/>
          </a:solidFill>
          <a:ln/>
        </p:spPr>
      </p:sp>
      <p:sp>
        <p:nvSpPr>
          <p:cNvPr id="2147402986" name="Text 20"/>
          <p:cNvSpPr txBox="1"/>
          <p:nvPr/>
        </p:nvSpPr>
        <p:spPr bwMode="auto">
          <a:xfrm>
            <a:off x="457200" y="5879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  <a:endParaRPr lang="en-US" sz="1500"/>
          </a:p>
        </p:txBody>
      </p:sp>
      <p:sp>
        <p:nvSpPr>
          <p:cNvPr id="1699370973" name="Text 21"/>
          <p:cNvSpPr txBox="1"/>
          <p:nvPr/>
        </p:nvSpPr>
        <p:spPr bwMode="auto">
          <a:xfrm>
            <a:off x="1051560" y="586130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Evaluate the time and space complexity of the proposed DSA-based approach.</a:t>
            </a:r>
            <a:endParaRPr lang="en-US" sz="1350"/>
          </a:p>
        </p:txBody>
      </p:sp>
      <p:sp>
        <p:nvSpPr>
          <p:cNvPr id="1274862257" name="Text 23"/>
          <p:cNvSpPr txBox="1"/>
          <p:nvPr/>
        </p:nvSpPr>
        <p:spPr bwMode="auto"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655A"/>
                </a:solidFill>
                <a:latin typeface="Calibri"/>
                <a:ea typeface="Calibri"/>
                <a:cs typeface="Calibri"/>
              </a:rPr>
              <a:t>05 / 16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7469169" name="Shape 0"/>
          <p:cNvSpPr/>
          <p:nvPr/>
        </p:nvSpPr>
        <p:spPr bwMode="auto">
          <a:xfrm>
            <a:off x="256032" y="402336"/>
            <a:ext cx="54864" cy="1106424"/>
          </a:xfrm>
          <a:prstGeom prst="rect">
            <a:avLst/>
          </a:prstGeom>
          <a:solidFill>
            <a:srgbClr val="C98A3D"/>
          </a:solidFill>
          <a:ln/>
        </p:spPr>
      </p:sp>
      <p:sp>
        <p:nvSpPr>
          <p:cNvPr id="1487773732" name="Text 1"/>
          <p:cNvSpPr txBox="1"/>
          <p:nvPr/>
        </p:nvSpPr>
        <p:spPr bwMode="auto">
          <a:xfrm>
            <a:off x="502920" y="384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DESIGN</a:t>
            </a:r>
            <a:endParaRPr lang="en-US" sz="1200"/>
          </a:p>
        </p:txBody>
      </p:sp>
      <p:sp>
        <p:nvSpPr>
          <p:cNvPr id="463403111" name="Text 2"/>
          <p:cNvSpPr txBox="1"/>
          <p:nvPr/>
        </p:nvSpPr>
        <p:spPr bwMode="auto">
          <a:xfrm>
            <a:off x="457200" y="62179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300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Selected Data Structures &amp; Algorithms</a:t>
            </a:r>
            <a:endParaRPr lang="en-US" sz="3000"/>
          </a:p>
        </p:txBody>
      </p:sp>
      <p:graphicFrame>
        <p:nvGraphicFramePr>
          <p:cNvPr id="1213120750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554480"/>
          <a:ext cx="11274552" cy="233172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5029200"/>
                <a:gridCol w="6245352"/>
              </a:tblGrid>
              <a:tr h="38862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DSA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153A2B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Role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153A2B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50" b="1">
                          <a:solidFill>
                            <a:srgbClr val="153A2B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KD-Tree</a:t>
                      </a:r>
                      <a:endParaRPr lang="en-US" sz="125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50">
                          <a:solidFill>
                            <a:srgbClr val="16241C"/>
                          </a:solidFill>
                          <a:latin typeface="Calibri"/>
                          <a:ea typeface="Calibri"/>
                          <a:cs typeface="Calibri"/>
                        </a:rPr>
                        <a:t>Nearest sensor retrieval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50" b="1">
                          <a:solidFill>
                            <a:srgbClr val="153A2B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Orthogonal Range Tree</a:t>
                      </a:r>
                      <a:endParaRPr lang="en-US" sz="125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50">
                          <a:solidFill>
                            <a:srgbClr val="16241C"/>
                          </a:solidFill>
                          <a:latin typeface="Calibri"/>
                          <a:ea typeface="Calibri"/>
                          <a:cs typeface="Calibri"/>
                        </a:rPr>
                        <a:t>2D rectangular range queries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50" b="1">
                          <a:solidFill>
                            <a:srgbClr val="153A2B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Fractional Cascading</a:t>
                      </a:r>
                      <a:endParaRPr lang="en-US" sz="125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50">
                          <a:solidFill>
                            <a:srgbClr val="16241C"/>
                          </a:solidFill>
                          <a:latin typeface="Calibri"/>
                          <a:ea typeface="Calibri"/>
                          <a:cs typeface="Calibri"/>
                        </a:rPr>
                        <a:t>Related sorted moisture searches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50" b="1">
                          <a:solidFill>
                            <a:srgbClr val="153A2B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ArrayList</a:t>
                      </a:r>
                      <a:endParaRPr lang="en-US" sz="125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50">
                          <a:solidFill>
                            <a:srgbClr val="16241C"/>
                          </a:solidFill>
                          <a:latin typeface="Calibri"/>
                          <a:ea typeface="Calibri"/>
                          <a:cs typeface="Calibri"/>
                        </a:rPr>
                        <a:t>Sensor storage and result collections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50" b="1">
                          <a:solidFill>
                            <a:srgbClr val="153A2B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Balanced binary trees</a:t>
                      </a:r>
                      <a:endParaRPr lang="en-US" sz="125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50">
                          <a:solidFill>
                            <a:srgbClr val="16241C"/>
                          </a:solidFill>
                          <a:latin typeface="Calibri"/>
                          <a:ea typeface="Calibri"/>
                          <a:cs typeface="Calibri"/>
                        </a:rPr>
                        <a:t>Hierarchical spatial indexing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</a:tr>
            </a:tbl>
          </a:graphicData>
        </a:graphic>
      </p:graphicFrame>
      <p:sp>
        <p:nvSpPr>
          <p:cNvPr id="1241027782" name="Text 3"/>
          <p:cNvSpPr txBox="1"/>
          <p:nvPr/>
        </p:nvSpPr>
        <p:spPr bwMode="auto">
          <a:xfrm>
            <a:off x="457200" y="4160519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100">
                <a:solidFill>
                  <a:srgbClr val="153A2B"/>
                </a:solidFill>
                <a:latin typeface="Calibri"/>
                <a:ea typeface="Calibri"/>
                <a:cs typeface="Calibri"/>
              </a:rPr>
              <a:t>MAJOR OPERATIONS</a:t>
            </a:r>
            <a:endParaRPr lang="en-US" sz="1300"/>
          </a:p>
        </p:txBody>
      </p:sp>
      <p:sp>
        <p:nvSpPr>
          <p:cNvPr id="1150719992" name="Shape 4"/>
          <p:cNvSpPr/>
          <p:nvPr/>
        </p:nvSpPr>
        <p:spPr bwMode="auto">
          <a:xfrm>
            <a:off x="457200" y="4572000"/>
            <a:ext cx="2108606" cy="1005840"/>
          </a:xfrm>
          <a:prstGeom prst="roundRect">
            <a:avLst>
              <a:gd name="adj" fmla="val 7273"/>
            </a:avLst>
          </a:prstGeom>
          <a:solidFill>
            <a:srgbClr val="0A1F15"/>
          </a:solidFill>
          <a:ln/>
        </p:spPr>
      </p:sp>
      <p:sp>
        <p:nvSpPr>
          <p:cNvPr id="281097196" name="Shape 5"/>
          <p:cNvSpPr/>
          <p:nvPr/>
        </p:nvSpPr>
        <p:spPr bwMode="auto">
          <a:xfrm>
            <a:off x="1328623" y="4709160"/>
            <a:ext cx="365760" cy="365760"/>
          </a:xfrm>
          <a:prstGeom prst="ellipse">
            <a:avLst/>
          </a:prstGeom>
          <a:solidFill>
            <a:srgbClr val="C98A3D"/>
          </a:solidFill>
          <a:ln/>
        </p:spPr>
      </p:sp>
      <p:sp>
        <p:nvSpPr>
          <p:cNvPr id="2058487008" name="Text 6"/>
          <p:cNvSpPr txBox="1"/>
          <p:nvPr/>
        </p:nvSpPr>
        <p:spPr bwMode="auto">
          <a:xfrm>
            <a:off x="1328623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400"/>
          </a:p>
        </p:txBody>
      </p:sp>
      <p:sp>
        <p:nvSpPr>
          <p:cNvPr id="1123280849" name="Text 7"/>
          <p:cNvSpPr txBox="1"/>
          <p:nvPr/>
        </p:nvSpPr>
        <p:spPr bwMode="auto">
          <a:xfrm>
            <a:off x="548640" y="5166360"/>
            <a:ext cx="19257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Point location</a:t>
            </a:r>
            <a:endParaRPr lang="en-US" sz="950"/>
          </a:p>
        </p:txBody>
      </p:sp>
      <p:sp>
        <p:nvSpPr>
          <p:cNvPr id="1241585613" name="Shape 8"/>
          <p:cNvSpPr/>
          <p:nvPr/>
        </p:nvSpPr>
        <p:spPr bwMode="auto">
          <a:xfrm>
            <a:off x="2748685" y="4572000"/>
            <a:ext cx="2108606" cy="1005840"/>
          </a:xfrm>
          <a:prstGeom prst="roundRect">
            <a:avLst>
              <a:gd name="adj" fmla="val 7273"/>
            </a:avLst>
          </a:prstGeom>
          <a:solidFill>
            <a:srgbClr val="0A1F15"/>
          </a:solidFill>
          <a:ln/>
        </p:spPr>
      </p:sp>
      <p:sp>
        <p:nvSpPr>
          <p:cNvPr id="731182900" name="Shape 9"/>
          <p:cNvSpPr/>
          <p:nvPr/>
        </p:nvSpPr>
        <p:spPr bwMode="auto">
          <a:xfrm>
            <a:off x="3620110" y="4709160"/>
            <a:ext cx="365760" cy="365760"/>
          </a:xfrm>
          <a:prstGeom prst="ellipse">
            <a:avLst/>
          </a:prstGeom>
          <a:solidFill>
            <a:srgbClr val="C98A3D"/>
          </a:solidFill>
          <a:ln/>
        </p:spPr>
      </p:sp>
      <p:sp>
        <p:nvSpPr>
          <p:cNvPr id="1752853371" name="Text 10"/>
          <p:cNvSpPr txBox="1"/>
          <p:nvPr/>
        </p:nvSpPr>
        <p:spPr bwMode="auto">
          <a:xfrm>
            <a:off x="362011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400"/>
          </a:p>
        </p:txBody>
      </p:sp>
      <p:sp>
        <p:nvSpPr>
          <p:cNvPr id="1299179642" name="Text 11"/>
          <p:cNvSpPr txBox="1"/>
          <p:nvPr/>
        </p:nvSpPr>
        <p:spPr bwMode="auto">
          <a:xfrm>
            <a:off x="2840126" y="5166360"/>
            <a:ext cx="19257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Nearest-neighbor search</a:t>
            </a:r>
            <a:endParaRPr lang="en-US" sz="950"/>
          </a:p>
        </p:txBody>
      </p:sp>
      <p:sp>
        <p:nvSpPr>
          <p:cNvPr id="1182791470" name="Shape 12"/>
          <p:cNvSpPr/>
          <p:nvPr/>
        </p:nvSpPr>
        <p:spPr bwMode="auto">
          <a:xfrm>
            <a:off x="5040173" y="4572000"/>
            <a:ext cx="2108606" cy="1005840"/>
          </a:xfrm>
          <a:prstGeom prst="roundRect">
            <a:avLst>
              <a:gd name="adj" fmla="val 7273"/>
            </a:avLst>
          </a:prstGeom>
          <a:solidFill>
            <a:srgbClr val="0A1F15"/>
          </a:solidFill>
          <a:ln/>
        </p:spPr>
      </p:sp>
      <p:sp>
        <p:nvSpPr>
          <p:cNvPr id="1898579162" name="Shape 13"/>
          <p:cNvSpPr/>
          <p:nvPr/>
        </p:nvSpPr>
        <p:spPr bwMode="auto">
          <a:xfrm>
            <a:off x="5911596" y="4709160"/>
            <a:ext cx="365760" cy="365760"/>
          </a:xfrm>
          <a:prstGeom prst="ellipse">
            <a:avLst/>
          </a:prstGeom>
          <a:solidFill>
            <a:srgbClr val="C98A3D"/>
          </a:solidFill>
          <a:ln/>
        </p:spPr>
      </p:sp>
      <p:sp>
        <p:nvSpPr>
          <p:cNvPr id="1143340967" name="Text 14"/>
          <p:cNvSpPr txBox="1"/>
          <p:nvPr/>
        </p:nvSpPr>
        <p:spPr bwMode="auto">
          <a:xfrm>
            <a:off x="5911596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400"/>
          </a:p>
        </p:txBody>
      </p:sp>
      <p:sp>
        <p:nvSpPr>
          <p:cNvPr id="1547751983" name="Text 15"/>
          <p:cNvSpPr txBox="1"/>
          <p:nvPr/>
        </p:nvSpPr>
        <p:spPr bwMode="auto">
          <a:xfrm>
            <a:off x="5131613" y="5166360"/>
            <a:ext cx="19257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Orthogonal range search</a:t>
            </a:r>
            <a:endParaRPr lang="en-US" sz="950"/>
          </a:p>
        </p:txBody>
      </p:sp>
      <p:sp>
        <p:nvSpPr>
          <p:cNvPr id="1951073271" name="Shape 16"/>
          <p:cNvSpPr/>
          <p:nvPr/>
        </p:nvSpPr>
        <p:spPr bwMode="auto">
          <a:xfrm>
            <a:off x="7331659" y="4572000"/>
            <a:ext cx="2108606" cy="1005840"/>
          </a:xfrm>
          <a:prstGeom prst="roundRect">
            <a:avLst>
              <a:gd name="adj" fmla="val 7273"/>
            </a:avLst>
          </a:prstGeom>
          <a:solidFill>
            <a:srgbClr val="0A1F15"/>
          </a:solidFill>
          <a:ln/>
        </p:spPr>
      </p:sp>
      <p:sp>
        <p:nvSpPr>
          <p:cNvPr id="131993100" name="Shape 17"/>
          <p:cNvSpPr/>
          <p:nvPr/>
        </p:nvSpPr>
        <p:spPr bwMode="auto">
          <a:xfrm>
            <a:off x="8203082" y="4709160"/>
            <a:ext cx="365760" cy="365760"/>
          </a:xfrm>
          <a:prstGeom prst="ellipse">
            <a:avLst/>
          </a:prstGeom>
          <a:solidFill>
            <a:srgbClr val="C98A3D"/>
          </a:solidFill>
          <a:ln/>
        </p:spPr>
      </p:sp>
      <p:sp>
        <p:nvSpPr>
          <p:cNvPr id="1335635019" name="Text 18"/>
          <p:cNvSpPr txBox="1"/>
          <p:nvPr/>
        </p:nvSpPr>
        <p:spPr bwMode="auto">
          <a:xfrm>
            <a:off x="8203082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lang="en-US" sz="1400"/>
          </a:p>
        </p:txBody>
      </p:sp>
      <p:sp>
        <p:nvSpPr>
          <p:cNvPr id="1575286052" name="Text 19"/>
          <p:cNvSpPr txBox="1"/>
          <p:nvPr/>
        </p:nvSpPr>
        <p:spPr bwMode="auto">
          <a:xfrm>
            <a:off x="7423099" y="5166360"/>
            <a:ext cx="19257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Moisture threshold search</a:t>
            </a:r>
            <a:endParaRPr lang="en-US" sz="950"/>
          </a:p>
        </p:txBody>
      </p:sp>
      <p:sp>
        <p:nvSpPr>
          <p:cNvPr id="1866704064" name="Shape 20"/>
          <p:cNvSpPr/>
          <p:nvPr/>
        </p:nvSpPr>
        <p:spPr bwMode="auto">
          <a:xfrm>
            <a:off x="9623146" y="4572000"/>
            <a:ext cx="2108606" cy="1005840"/>
          </a:xfrm>
          <a:prstGeom prst="roundRect">
            <a:avLst>
              <a:gd name="adj" fmla="val 7273"/>
            </a:avLst>
          </a:prstGeom>
          <a:solidFill>
            <a:srgbClr val="0A1F15"/>
          </a:solidFill>
          <a:ln/>
        </p:spPr>
      </p:sp>
      <p:sp>
        <p:nvSpPr>
          <p:cNvPr id="1111061131" name="Shape 21"/>
          <p:cNvSpPr/>
          <p:nvPr/>
        </p:nvSpPr>
        <p:spPr bwMode="auto">
          <a:xfrm>
            <a:off x="10494569" y="4709160"/>
            <a:ext cx="365760" cy="365760"/>
          </a:xfrm>
          <a:prstGeom prst="ellipse">
            <a:avLst/>
          </a:prstGeom>
          <a:solidFill>
            <a:srgbClr val="C98A3D"/>
          </a:solidFill>
          <a:ln/>
        </p:spPr>
      </p:sp>
      <p:sp>
        <p:nvSpPr>
          <p:cNvPr id="1566065026" name="Text 22"/>
          <p:cNvSpPr txBox="1"/>
          <p:nvPr/>
        </p:nvSpPr>
        <p:spPr bwMode="auto">
          <a:xfrm>
            <a:off x="10494569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  <a:endParaRPr lang="en-US" sz="1400"/>
          </a:p>
        </p:txBody>
      </p:sp>
      <p:sp>
        <p:nvSpPr>
          <p:cNvPr id="1820362523" name="Text 23"/>
          <p:cNvSpPr txBox="1"/>
          <p:nvPr/>
        </p:nvSpPr>
        <p:spPr bwMode="auto">
          <a:xfrm>
            <a:off x="9714586" y="5166360"/>
            <a:ext cx="19257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Sensor insertion / removal</a:t>
            </a:r>
            <a:endParaRPr lang="en-US" sz="950"/>
          </a:p>
        </p:txBody>
      </p:sp>
      <p:sp>
        <p:nvSpPr>
          <p:cNvPr id="467714047" name="Text 25"/>
          <p:cNvSpPr txBox="1"/>
          <p:nvPr/>
        </p:nvSpPr>
        <p:spPr bwMode="auto"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655A"/>
                </a:solidFill>
                <a:latin typeface="Calibri"/>
                <a:ea typeface="Calibri"/>
                <a:cs typeface="Calibri"/>
              </a:rPr>
              <a:t>06 / 16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46665" name="Shape 0"/>
          <p:cNvSpPr/>
          <p:nvPr/>
        </p:nvSpPr>
        <p:spPr bwMode="auto">
          <a:xfrm>
            <a:off x="256032" y="402336"/>
            <a:ext cx="54864" cy="1106424"/>
          </a:xfrm>
          <a:prstGeom prst="rect">
            <a:avLst/>
          </a:prstGeom>
          <a:solidFill>
            <a:srgbClr val="C98A3D"/>
          </a:solidFill>
          <a:ln/>
        </p:spPr>
      </p:sp>
      <p:sp>
        <p:nvSpPr>
          <p:cNvPr id="867601300" name="Text 1"/>
          <p:cNvSpPr txBox="1"/>
          <p:nvPr/>
        </p:nvSpPr>
        <p:spPr bwMode="auto">
          <a:xfrm>
            <a:off x="502920" y="384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JUSTIFICATION</a:t>
            </a:r>
            <a:endParaRPr lang="en-US" sz="1200"/>
          </a:p>
        </p:txBody>
      </p:sp>
      <p:sp>
        <p:nvSpPr>
          <p:cNvPr id="76212215" name="Text 2"/>
          <p:cNvSpPr txBox="1"/>
          <p:nvPr/>
        </p:nvSpPr>
        <p:spPr bwMode="auto">
          <a:xfrm>
            <a:off x="457200" y="62179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300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Why These DSAs?</a:t>
            </a:r>
            <a:endParaRPr lang="en-US" sz="3000"/>
          </a:p>
        </p:txBody>
      </p:sp>
      <p:graphicFrame>
        <p:nvGraphicFramePr>
          <p:cNvPr id="921550495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600200"/>
          <a:ext cx="11274552" cy="219456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749040"/>
                <a:gridCol w="3749040"/>
                <a:gridCol w="3776472"/>
              </a:tblGrid>
              <a:tr h="43891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Requirement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153A2B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Conventional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153A2B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Selected DSA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153A2B"/>
                    </a:solidFill>
                  </a:tcPr>
                </a:tc>
              </a:tr>
              <a:tr h="43891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rgbClr val="16241C"/>
                          </a:solidFill>
                          <a:latin typeface="Calibri"/>
                          <a:ea typeface="Calibri"/>
                          <a:cs typeface="Calibri"/>
                        </a:rPr>
                        <a:t>Nearest sensor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 i="1">
                          <a:solidFill>
                            <a:srgbClr val="16241C"/>
                          </a:solidFill>
                          <a:latin typeface="Calibri"/>
                          <a:ea typeface="Calibri"/>
                          <a:cs typeface="Calibri"/>
                        </a:rPr>
                        <a:t>Linear scan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 b="1">
                          <a:solidFill>
                            <a:srgbClr val="9C6A28"/>
                          </a:solidFill>
                          <a:latin typeface="Calibri"/>
                          <a:ea typeface="Calibri"/>
                          <a:cs typeface="Calibri"/>
                        </a:rPr>
                        <a:t>KD-Tree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</a:tr>
              <a:tr h="43891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rgbClr val="16241C"/>
                          </a:solidFill>
                          <a:latin typeface="Calibri"/>
                          <a:ea typeface="Calibri"/>
                          <a:cs typeface="Calibri"/>
                        </a:rPr>
                        <a:t>Rectangle query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 i="1">
                          <a:solidFill>
                            <a:srgbClr val="16241C"/>
                          </a:solidFill>
                          <a:latin typeface="Calibri"/>
                          <a:ea typeface="Calibri"/>
                          <a:cs typeface="Calibri"/>
                        </a:rPr>
                        <a:t>Scan all sensors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 b="1">
                          <a:solidFill>
                            <a:srgbClr val="9C6A28"/>
                          </a:solidFill>
                          <a:latin typeface="Calibri"/>
                          <a:ea typeface="Calibri"/>
                          <a:cs typeface="Calibri"/>
                        </a:rPr>
                        <a:t>Range Tree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rgbClr val="16241C"/>
                          </a:solidFill>
                          <a:latin typeface="Calibri"/>
                          <a:ea typeface="Calibri"/>
                          <a:cs typeface="Calibri"/>
                        </a:rPr>
                        <a:t>Multiple sorted searches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 i="1">
                          <a:solidFill>
                            <a:srgbClr val="16241C"/>
                          </a:solidFill>
                          <a:latin typeface="Calibri"/>
                          <a:ea typeface="Calibri"/>
                          <a:cs typeface="Calibri"/>
                        </a:rPr>
                        <a:t>Independent searches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 b="1">
                          <a:solidFill>
                            <a:srgbClr val="9C6A28"/>
                          </a:solidFill>
                          <a:latin typeface="Calibri"/>
                          <a:ea typeface="Calibri"/>
                          <a:cs typeface="Calibri"/>
                        </a:rPr>
                        <a:t>Fractional Cascading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</a:tr>
              <a:tr h="43891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>
                          <a:solidFill>
                            <a:srgbClr val="16241C"/>
                          </a:solidFill>
                          <a:latin typeface="Calibri"/>
                          <a:ea typeface="Calibri"/>
                          <a:cs typeface="Calibri"/>
                        </a:rPr>
                        <a:t>Growing dataset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 i="1">
                          <a:solidFill>
                            <a:srgbClr val="16241C"/>
                          </a:solidFill>
                          <a:latin typeface="Calibri"/>
                          <a:ea typeface="Calibri"/>
                          <a:cs typeface="Calibri"/>
                        </a:rPr>
                        <a:t>Poor scalability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300" b="1">
                          <a:solidFill>
                            <a:srgbClr val="9C6A28"/>
                          </a:solidFill>
                          <a:latin typeface="Calibri"/>
                          <a:ea typeface="Calibri"/>
                          <a:cs typeface="Calibri"/>
                        </a:rPr>
                        <a:t>Spatial indexing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11585207" name="Shape 3"/>
          <p:cNvSpPr/>
          <p:nvPr/>
        </p:nvSpPr>
        <p:spPr bwMode="auto">
          <a:xfrm>
            <a:off x="457200" y="4023360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0A1F15"/>
          </a:solidFill>
          <a:ln/>
        </p:spPr>
      </p:sp>
      <p:sp>
        <p:nvSpPr>
          <p:cNvPr id="1496564119" name="Text 4"/>
          <p:cNvSpPr txBox="1"/>
          <p:nvPr/>
        </p:nvSpPr>
        <p:spPr bwMode="auto">
          <a:xfrm>
            <a:off x="77724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THE CENTRAL MESSAGE</a:t>
            </a:r>
            <a:endParaRPr lang="en-US" sz="1100"/>
          </a:p>
        </p:txBody>
      </p:sp>
      <p:sp>
        <p:nvSpPr>
          <p:cNvPr id="1882139653" name="Text 5"/>
          <p:cNvSpPr txBox="1"/>
          <p:nvPr/>
        </p:nvSpPr>
        <p:spPr bwMode="auto">
          <a:xfrm>
            <a:off x="777240" y="44988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Each data structure is selected for a different computational requirement.</a:t>
            </a:r>
            <a:endParaRPr lang="en-US" sz="1900"/>
          </a:p>
        </p:txBody>
      </p:sp>
      <p:sp>
        <p:nvSpPr>
          <p:cNvPr id="353181895" name="Text 6"/>
          <p:cNvSpPr txBox="1"/>
          <p:nvPr/>
        </p:nvSpPr>
        <p:spPr bwMode="auto">
          <a:xfrm>
            <a:off x="777240" y="5029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i="1">
                <a:solidFill>
                  <a:srgbClr val="AFC9AF"/>
                </a:solidFill>
                <a:latin typeface="Calibri"/>
                <a:ea typeface="Calibri"/>
                <a:cs typeface="Calibri"/>
              </a:rPr>
              <a:t>We are not using three algorithms for the sake of it — each targets a distinct query pattern that agricultural sensor analysis actually needs.</a:t>
            </a:r>
            <a:endParaRPr lang="en-US" sz="1150"/>
          </a:p>
        </p:txBody>
      </p:sp>
      <p:sp>
        <p:nvSpPr>
          <p:cNvPr id="580355770" name="Text 8"/>
          <p:cNvSpPr txBox="1"/>
          <p:nvPr/>
        </p:nvSpPr>
        <p:spPr bwMode="auto"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655A"/>
                </a:solidFill>
                <a:latin typeface="Calibri"/>
                <a:ea typeface="Calibri"/>
                <a:cs typeface="Calibri"/>
              </a:rPr>
              <a:t>07 / 16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2501039" name="Shape 0"/>
          <p:cNvSpPr/>
          <p:nvPr/>
        </p:nvSpPr>
        <p:spPr bwMode="auto">
          <a:xfrm>
            <a:off x="256032" y="402336"/>
            <a:ext cx="54864" cy="1106424"/>
          </a:xfrm>
          <a:prstGeom prst="rect">
            <a:avLst/>
          </a:prstGeom>
          <a:solidFill>
            <a:srgbClr val="C98A3D"/>
          </a:solidFill>
          <a:ln/>
        </p:spPr>
      </p:sp>
      <p:sp>
        <p:nvSpPr>
          <p:cNvPr id="1382348221" name="Text 1"/>
          <p:cNvSpPr txBox="1"/>
          <p:nvPr/>
        </p:nvSpPr>
        <p:spPr bwMode="auto">
          <a:xfrm>
            <a:off x="502920" y="384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METHODOLOGY</a:t>
            </a:r>
            <a:endParaRPr lang="en-US" sz="1200"/>
          </a:p>
        </p:txBody>
      </p:sp>
      <p:sp>
        <p:nvSpPr>
          <p:cNvPr id="489631132" name="Text 2"/>
          <p:cNvSpPr txBox="1"/>
          <p:nvPr/>
        </p:nvSpPr>
        <p:spPr bwMode="auto">
          <a:xfrm>
            <a:off x="457200" y="62179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300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Proposed Methodology — System Architecture</a:t>
            </a:r>
            <a:endParaRPr lang="en-US" sz="3000"/>
          </a:p>
        </p:txBody>
      </p:sp>
      <p:sp>
        <p:nvSpPr>
          <p:cNvPr id="595553407" name="Shape 3"/>
          <p:cNvSpPr/>
          <p:nvPr/>
        </p:nvSpPr>
        <p:spPr bwMode="auto">
          <a:xfrm>
            <a:off x="4626864" y="1371600"/>
            <a:ext cx="2926080" cy="365760"/>
          </a:xfrm>
          <a:prstGeom prst="roundRect">
            <a:avLst>
              <a:gd name="adj" fmla="val 17500"/>
            </a:avLst>
          </a:prstGeom>
          <a:solidFill>
            <a:srgbClr val="153A2B"/>
          </a:solidFill>
          <a:ln/>
          <a:effectLst>
            <a:outerShdw blurRad="50800" dist="12700" dir="5400000" sx="100000" sy="100000" kx="0" ky="0" algn="bl" rotWithShape="0">
              <a:srgbClr val="153A2B">
                <a:alpha val="15000"/>
              </a:srgbClr>
            </a:outerShdw>
          </a:effectLst>
        </p:spPr>
      </p:sp>
      <p:sp>
        <p:nvSpPr>
          <p:cNvPr id="1284339699" name="Text 4"/>
          <p:cNvSpPr txBox="1"/>
          <p:nvPr/>
        </p:nvSpPr>
        <p:spPr bwMode="auto">
          <a:xfrm>
            <a:off x="4626864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FARM SENSOR DATA</a:t>
            </a:r>
            <a:endParaRPr lang="en-US" sz="1100"/>
          </a:p>
        </p:txBody>
      </p:sp>
      <p:sp>
        <p:nvSpPr>
          <p:cNvPr id="1985381485" name="Shape 5"/>
          <p:cNvSpPr/>
          <p:nvPr/>
        </p:nvSpPr>
        <p:spPr bwMode="auto">
          <a:xfrm>
            <a:off x="6089904" y="1737360"/>
            <a:ext cx="9144" cy="118872"/>
          </a:xfrm>
          <a:prstGeom prst="line">
            <a:avLst/>
          </a:prstGeom>
          <a:noFill/>
          <a:ln w="22225">
            <a:solidFill>
              <a:srgbClr val="6FA37D"/>
            </a:solidFill>
            <a:prstDash val="solid"/>
            <a:tailEnd type="triangle"/>
          </a:ln>
        </p:spPr>
      </p:sp>
      <p:sp>
        <p:nvSpPr>
          <p:cNvPr id="507599898" name="Shape 6"/>
          <p:cNvSpPr/>
          <p:nvPr/>
        </p:nvSpPr>
        <p:spPr bwMode="auto">
          <a:xfrm>
            <a:off x="4901184" y="1856232"/>
            <a:ext cx="2377440" cy="329184"/>
          </a:xfrm>
          <a:prstGeom prst="roundRect">
            <a:avLst>
              <a:gd name="adj" fmla="val 19444"/>
            </a:avLst>
          </a:prstGeom>
          <a:solidFill>
            <a:srgbClr val="153A2B"/>
          </a:solidFill>
          <a:ln/>
          <a:effectLst>
            <a:outerShdw blurRad="50800" dist="12700" dir="5400000" sx="100000" sy="100000" kx="0" ky="0" algn="bl" rotWithShape="0">
              <a:srgbClr val="153A2B">
                <a:alpha val="15000"/>
              </a:srgbClr>
            </a:outerShdw>
          </a:effectLst>
        </p:spPr>
      </p:sp>
      <p:sp>
        <p:nvSpPr>
          <p:cNvPr id="66610137" name="Text 7"/>
          <p:cNvSpPr txBox="1"/>
          <p:nvPr/>
        </p:nvSpPr>
        <p:spPr bwMode="auto">
          <a:xfrm>
            <a:off x="4901184" y="18562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CSV DATASET</a:t>
            </a:r>
            <a:endParaRPr lang="en-US" sz="1100"/>
          </a:p>
        </p:txBody>
      </p:sp>
      <p:sp>
        <p:nvSpPr>
          <p:cNvPr id="1387000519" name="Shape 8"/>
          <p:cNvSpPr/>
          <p:nvPr/>
        </p:nvSpPr>
        <p:spPr bwMode="auto">
          <a:xfrm>
            <a:off x="6089904" y="2185416"/>
            <a:ext cx="9144" cy="118872"/>
          </a:xfrm>
          <a:prstGeom prst="line">
            <a:avLst/>
          </a:prstGeom>
          <a:noFill/>
          <a:ln w="22225">
            <a:solidFill>
              <a:srgbClr val="6FA37D"/>
            </a:solidFill>
            <a:prstDash val="solid"/>
            <a:tailEnd type="triangle"/>
          </a:ln>
        </p:spPr>
      </p:sp>
      <p:sp>
        <p:nvSpPr>
          <p:cNvPr id="471431289" name="Shape 9"/>
          <p:cNvSpPr/>
          <p:nvPr/>
        </p:nvSpPr>
        <p:spPr bwMode="auto">
          <a:xfrm>
            <a:off x="4901184" y="2304288"/>
            <a:ext cx="2377440" cy="329184"/>
          </a:xfrm>
          <a:prstGeom prst="roundRect">
            <a:avLst>
              <a:gd name="adj" fmla="val 19444"/>
            </a:avLst>
          </a:prstGeom>
          <a:solidFill>
            <a:srgbClr val="153A2B"/>
          </a:solidFill>
          <a:ln/>
          <a:effectLst>
            <a:outerShdw blurRad="50800" dist="12700" dir="5400000" sx="100000" sy="100000" kx="0" ky="0" algn="bl" rotWithShape="0">
              <a:srgbClr val="153A2B">
                <a:alpha val="15000"/>
              </a:srgbClr>
            </a:outerShdw>
          </a:effectLst>
        </p:spPr>
      </p:sp>
      <p:sp>
        <p:nvSpPr>
          <p:cNvPr id="1480904811" name="Text 10"/>
          <p:cNvSpPr txBox="1"/>
          <p:nvPr/>
        </p:nvSpPr>
        <p:spPr bwMode="auto">
          <a:xfrm>
            <a:off x="4901184" y="23042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CSV LOADER</a:t>
            </a:r>
            <a:endParaRPr lang="en-US" sz="1100"/>
          </a:p>
        </p:txBody>
      </p:sp>
      <p:sp>
        <p:nvSpPr>
          <p:cNvPr id="1640577666" name="Shape 11"/>
          <p:cNvSpPr/>
          <p:nvPr/>
        </p:nvSpPr>
        <p:spPr bwMode="auto">
          <a:xfrm>
            <a:off x="6089904" y="2633472"/>
            <a:ext cx="9144" cy="118872"/>
          </a:xfrm>
          <a:prstGeom prst="line">
            <a:avLst/>
          </a:prstGeom>
          <a:noFill/>
          <a:ln w="22225">
            <a:solidFill>
              <a:srgbClr val="6FA37D"/>
            </a:solidFill>
            <a:prstDash val="solid"/>
            <a:tailEnd type="triangle"/>
          </a:ln>
        </p:spPr>
      </p:sp>
      <p:sp>
        <p:nvSpPr>
          <p:cNvPr id="1225608583" name="Shape 12"/>
          <p:cNvSpPr/>
          <p:nvPr/>
        </p:nvSpPr>
        <p:spPr bwMode="auto">
          <a:xfrm>
            <a:off x="4718304" y="2752343"/>
            <a:ext cx="2743200" cy="365760"/>
          </a:xfrm>
          <a:prstGeom prst="roundRect">
            <a:avLst>
              <a:gd name="adj" fmla="val 17500"/>
            </a:avLst>
          </a:prstGeom>
          <a:solidFill>
            <a:srgbClr val="C98A3D"/>
          </a:solidFill>
          <a:ln/>
          <a:effectLst>
            <a:outerShdw blurRad="50800" dist="12700" dir="5400000" sx="100000" sy="100000" kx="0" ky="0" algn="bl" rotWithShape="0">
              <a:srgbClr val="153A2B">
                <a:alpha val="15000"/>
              </a:srgbClr>
            </a:outerShdw>
          </a:effectLst>
        </p:spPr>
      </p:sp>
      <p:sp>
        <p:nvSpPr>
          <p:cNvPr id="375161329" name="Text 13"/>
          <p:cNvSpPr txBox="1"/>
          <p:nvPr/>
        </p:nvSpPr>
        <p:spPr bwMode="auto">
          <a:xfrm>
            <a:off x="4718304" y="2752343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SENSOR OBJECTS</a:t>
            </a:r>
            <a:endParaRPr lang="en-US" sz="1100"/>
          </a:p>
        </p:txBody>
      </p:sp>
      <p:sp>
        <p:nvSpPr>
          <p:cNvPr id="1854973282" name="Shape 14"/>
          <p:cNvSpPr/>
          <p:nvPr/>
        </p:nvSpPr>
        <p:spPr bwMode="auto">
          <a:xfrm flipH="1" flipV="0">
            <a:off x="3762413" y="3118104"/>
            <a:ext cx="2336634" cy="201167"/>
          </a:xfrm>
          <a:prstGeom prst="line">
            <a:avLst/>
          </a:prstGeom>
          <a:noFill/>
          <a:ln w="19050">
            <a:solidFill>
              <a:srgbClr val="6FA37D"/>
            </a:solidFill>
            <a:prstDash val="solid"/>
            <a:tailEnd type="triangle"/>
          </a:ln>
        </p:spPr>
      </p:sp>
      <p:sp>
        <p:nvSpPr>
          <p:cNvPr id="1704570063" name="Shape 15"/>
          <p:cNvSpPr/>
          <p:nvPr/>
        </p:nvSpPr>
        <p:spPr bwMode="auto">
          <a:xfrm>
            <a:off x="6089904" y="3118104"/>
            <a:ext cx="9144" cy="201168"/>
          </a:xfrm>
          <a:prstGeom prst="line">
            <a:avLst/>
          </a:prstGeom>
          <a:noFill/>
          <a:ln w="19050">
            <a:solidFill>
              <a:srgbClr val="6FA37D"/>
            </a:solidFill>
            <a:prstDash val="solid"/>
            <a:tailEnd type="triangle"/>
          </a:ln>
        </p:spPr>
      </p:sp>
      <p:sp>
        <p:nvSpPr>
          <p:cNvPr id="1402662449" name="Shape 16"/>
          <p:cNvSpPr/>
          <p:nvPr/>
        </p:nvSpPr>
        <p:spPr bwMode="auto">
          <a:xfrm>
            <a:off x="6089904" y="3118104"/>
            <a:ext cx="2834640" cy="201168"/>
          </a:xfrm>
          <a:prstGeom prst="line">
            <a:avLst/>
          </a:prstGeom>
          <a:noFill/>
          <a:ln w="19050">
            <a:solidFill>
              <a:srgbClr val="6FA37D"/>
            </a:solidFill>
            <a:prstDash val="solid"/>
            <a:tailEnd type="triangle"/>
          </a:ln>
        </p:spPr>
      </p:sp>
      <p:sp>
        <p:nvSpPr>
          <p:cNvPr id="29343785" name="Shape 17"/>
          <p:cNvSpPr/>
          <p:nvPr/>
        </p:nvSpPr>
        <p:spPr bwMode="auto">
          <a:xfrm>
            <a:off x="2249424" y="3319272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0A1F15"/>
          </a:solidFill>
          <a:ln w="12700">
            <a:solidFill>
              <a:srgbClr val="C98A3D"/>
            </a:solidFill>
            <a:prstDash val="solid"/>
          </a:ln>
        </p:spPr>
      </p:sp>
      <p:sp>
        <p:nvSpPr>
          <p:cNvPr id="491499918" name="Text 18"/>
          <p:cNvSpPr txBox="1"/>
          <p:nvPr/>
        </p:nvSpPr>
        <p:spPr bwMode="auto">
          <a:xfrm>
            <a:off x="2249424" y="33192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KD-Tree</a:t>
            </a:r>
            <a:endParaRPr lang="en-US" sz="1100"/>
          </a:p>
        </p:txBody>
      </p:sp>
      <p:sp>
        <p:nvSpPr>
          <p:cNvPr id="1297621868" name="Shape 19"/>
          <p:cNvSpPr/>
          <p:nvPr/>
        </p:nvSpPr>
        <p:spPr bwMode="auto">
          <a:xfrm>
            <a:off x="5084064" y="3319272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0A1F15"/>
          </a:solidFill>
          <a:ln w="12700">
            <a:solidFill>
              <a:srgbClr val="C98A3D"/>
            </a:solidFill>
            <a:prstDash val="solid"/>
          </a:ln>
        </p:spPr>
      </p:sp>
      <p:sp>
        <p:nvSpPr>
          <p:cNvPr id="1019549178" name="Text 20"/>
          <p:cNvSpPr txBox="1"/>
          <p:nvPr/>
        </p:nvSpPr>
        <p:spPr bwMode="auto">
          <a:xfrm>
            <a:off x="5084064" y="33192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Range Tree</a:t>
            </a:r>
            <a:endParaRPr lang="en-US" sz="1100"/>
          </a:p>
        </p:txBody>
      </p:sp>
      <p:sp>
        <p:nvSpPr>
          <p:cNvPr id="2001639129" name="Shape 21"/>
          <p:cNvSpPr/>
          <p:nvPr/>
        </p:nvSpPr>
        <p:spPr bwMode="auto">
          <a:xfrm>
            <a:off x="7918704" y="3319272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0A1F15"/>
          </a:solidFill>
          <a:ln w="12700">
            <a:solidFill>
              <a:srgbClr val="C98A3D"/>
            </a:solidFill>
            <a:prstDash val="solid"/>
          </a:ln>
        </p:spPr>
      </p:sp>
      <p:sp>
        <p:nvSpPr>
          <p:cNvPr id="466125960" name="Text 22"/>
          <p:cNvSpPr txBox="1"/>
          <p:nvPr/>
        </p:nvSpPr>
        <p:spPr bwMode="auto">
          <a:xfrm>
            <a:off x="7918704" y="33192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Fractional</a:t>
            </a:r>
            <a:endParaRPr lang="en-US" sz="1100"/>
          </a:p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Cascading</a:t>
            </a:r>
            <a:endParaRPr lang="en-US" sz="1100"/>
          </a:p>
        </p:txBody>
      </p:sp>
      <p:sp>
        <p:nvSpPr>
          <p:cNvPr id="1599454443" name="Shape 23"/>
          <p:cNvSpPr/>
          <p:nvPr/>
        </p:nvSpPr>
        <p:spPr bwMode="auto">
          <a:xfrm>
            <a:off x="3255264" y="3776472"/>
            <a:ext cx="9144" cy="201168"/>
          </a:xfrm>
          <a:prstGeom prst="line">
            <a:avLst/>
          </a:prstGeom>
          <a:noFill/>
          <a:ln w="19050">
            <a:solidFill>
              <a:srgbClr val="6FA37D"/>
            </a:solidFill>
            <a:prstDash val="solid"/>
            <a:tailEnd type="triangle"/>
          </a:ln>
        </p:spPr>
      </p:sp>
      <p:sp>
        <p:nvSpPr>
          <p:cNvPr id="971195291" name="Shape 24"/>
          <p:cNvSpPr/>
          <p:nvPr/>
        </p:nvSpPr>
        <p:spPr bwMode="auto">
          <a:xfrm>
            <a:off x="2249424" y="3977640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EEF4EE"/>
          </a:solidFill>
          <a:ln w="12700">
            <a:solidFill>
              <a:srgbClr val="153A2B"/>
            </a:solidFill>
            <a:prstDash val="solid"/>
          </a:ln>
        </p:spPr>
      </p:sp>
      <p:sp>
        <p:nvSpPr>
          <p:cNvPr id="1233807565" name="Text 25"/>
          <p:cNvSpPr txBox="1"/>
          <p:nvPr/>
        </p:nvSpPr>
        <p:spPr bwMode="auto">
          <a:xfrm>
            <a:off x="2249424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050" b="1">
                <a:solidFill>
                  <a:srgbClr val="153A2B"/>
                </a:solidFill>
                <a:latin typeface="Calibri"/>
                <a:ea typeface="Calibri"/>
                <a:cs typeface="Calibri"/>
              </a:rPr>
              <a:t>Nearest</a:t>
            </a:r>
            <a:endParaRPr lang="en-US" sz="1050"/>
          </a:p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050" b="1">
                <a:solidFill>
                  <a:srgbClr val="153A2B"/>
                </a:solidFill>
                <a:latin typeface="Calibri"/>
                <a:ea typeface="Calibri"/>
                <a:cs typeface="Calibri"/>
              </a:rPr>
              <a:t>Sensor</a:t>
            </a:r>
            <a:endParaRPr lang="en-US" sz="1050"/>
          </a:p>
        </p:txBody>
      </p:sp>
      <p:sp>
        <p:nvSpPr>
          <p:cNvPr id="2047111295" name="Shape 26"/>
          <p:cNvSpPr/>
          <p:nvPr/>
        </p:nvSpPr>
        <p:spPr bwMode="auto">
          <a:xfrm>
            <a:off x="6089904" y="3776472"/>
            <a:ext cx="9144" cy="201168"/>
          </a:xfrm>
          <a:prstGeom prst="line">
            <a:avLst/>
          </a:prstGeom>
          <a:noFill/>
          <a:ln w="19050">
            <a:solidFill>
              <a:srgbClr val="6FA37D"/>
            </a:solidFill>
            <a:prstDash val="solid"/>
            <a:tailEnd type="triangle"/>
          </a:ln>
        </p:spPr>
      </p:sp>
      <p:sp>
        <p:nvSpPr>
          <p:cNvPr id="1488083663" name="Shape 27"/>
          <p:cNvSpPr/>
          <p:nvPr/>
        </p:nvSpPr>
        <p:spPr bwMode="auto">
          <a:xfrm>
            <a:off x="5084064" y="3977640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EEF4EE"/>
          </a:solidFill>
          <a:ln w="12700">
            <a:solidFill>
              <a:srgbClr val="153A2B"/>
            </a:solidFill>
            <a:prstDash val="solid"/>
          </a:ln>
        </p:spPr>
      </p:sp>
      <p:sp>
        <p:nvSpPr>
          <p:cNvPr id="1953205446" name="Text 28"/>
          <p:cNvSpPr txBox="1"/>
          <p:nvPr/>
        </p:nvSpPr>
        <p:spPr bwMode="auto">
          <a:xfrm>
            <a:off x="5084064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050" b="1">
                <a:solidFill>
                  <a:srgbClr val="153A2B"/>
                </a:solidFill>
                <a:latin typeface="Calibri"/>
                <a:ea typeface="Calibri"/>
                <a:cs typeface="Calibri"/>
              </a:rPr>
              <a:t>Spatial</a:t>
            </a:r>
            <a:endParaRPr lang="en-US" sz="1050"/>
          </a:p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050" b="1">
                <a:solidFill>
                  <a:srgbClr val="153A2B"/>
                </a:solidFill>
                <a:latin typeface="Calibri"/>
                <a:ea typeface="Calibri"/>
                <a:cs typeface="Calibri"/>
              </a:rPr>
              <a:t>Range</a:t>
            </a:r>
            <a:endParaRPr lang="en-US" sz="1050"/>
          </a:p>
        </p:txBody>
      </p:sp>
      <p:sp>
        <p:nvSpPr>
          <p:cNvPr id="1243375606" name="Shape 29"/>
          <p:cNvSpPr/>
          <p:nvPr/>
        </p:nvSpPr>
        <p:spPr bwMode="auto">
          <a:xfrm>
            <a:off x="8924544" y="3776472"/>
            <a:ext cx="9144" cy="201168"/>
          </a:xfrm>
          <a:prstGeom prst="line">
            <a:avLst/>
          </a:prstGeom>
          <a:noFill/>
          <a:ln w="19050">
            <a:solidFill>
              <a:srgbClr val="6FA37D"/>
            </a:solidFill>
            <a:prstDash val="solid"/>
            <a:tailEnd type="triangle"/>
          </a:ln>
        </p:spPr>
      </p:sp>
      <p:sp>
        <p:nvSpPr>
          <p:cNvPr id="313471053" name="Shape 30"/>
          <p:cNvSpPr/>
          <p:nvPr/>
        </p:nvSpPr>
        <p:spPr bwMode="auto">
          <a:xfrm>
            <a:off x="7918704" y="3977640"/>
            <a:ext cx="2011680" cy="457200"/>
          </a:xfrm>
          <a:prstGeom prst="roundRect">
            <a:avLst>
              <a:gd name="adj" fmla="val 14000"/>
            </a:avLst>
          </a:prstGeom>
          <a:solidFill>
            <a:srgbClr val="EEF4EE"/>
          </a:solidFill>
          <a:ln w="12700">
            <a:solidFill>
              <a:srgbClr val="153A2B"/>
            </a:solidFill>
            <a:prstDash val="solid"/>
          </a:ln>
        </p:spPr>
      </p:sp>
      <p:sp>
        <p:nvSpPr>
          <p:cNvPr id="266979439" name="Text 31"/>
          <p:cNvSpPr txBox="1"/>
          <p:nvPr/>
        </p:nvSpPr>
        <p:spPr bwMode="auto">
          <a:xfrm>
            <a:off x="7918704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050" b="1">
                <a:solidFill>
                  <a:srgbClr val="153A2B"/>
                </a:solidFill>
                <a:latin typeface="Calibri"/>
                <a:ea typeface="Calibri"/>
                <a:cs typeface="Calibri"/>
              </a:rPr>
              <a:t>Moisture</a:t>
            </a:r>
            <a:endParaRPr lang="en-US" sz="1050"/>
          </a:p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050" b="1">
                <a:solidFill>
                  <a:srgbClr val="153A2B"/>
                </a:solidFill>
                <a:latin typeface="Calibri"/>
                <a:ea typeface="Calibri"/>
                <a:cs typeface="Calibri"/>
              </a:rPr>
              <a:t>Search</a:t>
            </a:r>
            <a:endParaRPr lang="en-US" sz="1050"/>
          </a:p>
        </p:txBody>
      </p:sp>
      <p:sp>
        <p:nvSpPr>
          <p:cNvPr id="1182150827" name="Shape 32"/>
          <p:cNvSpPr/>
          <p:nvPr/>
        </p:nvSpPr>
        <p:spPr bwMode="auto">
          <a:xfrm>
            <a:off x="3255264" y="4434840"/>
            <a:ext cx="2834640" cy="201168"/>
          </a:xfrm>
          <a:prstGeom prst="line">
            <a:avLst/>
          </a:prstGeom>
          <a:noFill/>
          <a:ln w="19050">
            <a:solidFill>
              <a:srgbClr val="6FA37D"/>
            </a:solidFill>
            <a:prstDash val="solid"/>
            <a:tailEnd type="triangle"/>
          </a:ln>
        </p:spPr>
      </p:sp>
      <p:sp>
        <p:nvSpPr>
          <p:cNvPr id="453734566" name="Shape 33"/>
          <p:cNvSpPr/>
          <p:nvPr/>
        </p:nvSpPr>
        <p:spPr bwMode="auto">
          <a:xfrm>
            <a:off x="6089904" y="4434840"/>
            <a:ext cx="9144" cy="201168"/>
          </a:xfrm>
          <a:prstGeom prst="line">
            <a:avLst/>
          </a:prstGeom>
          <a:noFill/>
          <a:ln w="19050">
            <a:solidFill>
              <a:srgbClr val="6FA37D"/>
            </a:solidFill>
            <a:prstDash val="solid"/>
            <a:tailEnd type="triangle"/>
          </a:ln>
        </p:spPr>
      </p:sp>
      <p:sp>
        <p:nvSpPr>
          <p:cNvPr id="1727080734" name="Shape 34"/>
          <p:cNvSpPr/>
          <p:nvPr/>
        </p:nvSpPr>
        <p:spPr bwMode="auto">
          <a:xfrm flipH="1" flipV="0">
            <a:off x="6099048" y="4434840"/>
            <a:ext cx="2825496" cy="201168"/>
          </a:xfrm>
          <a:prstGeom prst="line">
            <a:avLst/>
          </a:prstGeom>
          <a:noFill/>
          <a:ln w="19050">
            <a:solidFill>
              <a:srgbClr val="6FA37D"/>
            </a:solidFill>
            <a:prstDash val="solid"/>
            <a:tailEnd type="triangle"/>
          </a:ln>
        </p:spPr>
      </p:sp>
      <p:sp>
        <p:nvSpPr>
          <p:cNvPr id="2073714222" name="Shape 35"/>
          <p:cNvSpPr/>
          <p:nvPr/>
        </p:nvSpPr>
        <p:spPr bwMode="auto">
          <a:xfrm>
            <a:off x="3438144" y="4636008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C98A3D"/>
          </a:solidFill>
          <a:ln/>
        </p:spPr>
      </p:sp>
      <p:sp>
        <p:nvSpPr>
          <p:cNvPr id="1737561483" name="Text 36"/>
          <p:cNvSpPr txBox="1"/>
          <p:nvPr/>
        </p:nvSpPr>
        <p:spPr bwMode="auto">
          <a:xfrm>
            <a:off x="3438144" y="47091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AGRICULTURAL ANALYSIS</a:t>
            </a:r>
            <a:endParaRPr lang="en-US" sz="1200"/>
          </a:p>
        </p:txBody>
      </p:sp>
      <p:sp>
        <p:nvSpPr>
          <p:cNvPr id="859257537" name="Text 37"/>
          <p:cNvSpPr txBox="1"/>
          <p:nvPr/>
        </p:nvSpPr>
        <p:spPr bwMode="auto">
          <a:xfrm>
            <a:off x="3438144" y="50017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FF3E6"/>
                </a:solidFill>
                <a:latin typeface="Calibri"/>
                <a:ea typeface="Calibri"/>
                <a:cs typeface="Calibri"/>
              </a:rPr>
              <a:t>Irrigation Zones   •   Soil Analysis   •   Fertilizer Suggestion</a:t>
            </a:r>
            <a:endParaRPr lang="en-US" sz="1100"/>
          </a:p>
        </p:txBody>
      </p:sp>
      <p:sp>
        <p:nvSpPr>
          <p:cNvPr id="1299817256" name="Shape 38"/>
          <p:cNvSpPr/>
          <p:nvPr/>
        </p:nvSpPr>
        <p:spPr bwMode="auto">
          <a:xfrm>
            <a:off x="6089904" y="5550408"/>
            <a:ext cx="9144" cy="164592"/>
          </a:xfrm>
          <a:prstGeom prst="line">
            <a:avLst/>
          </a:prstGeom>
          <a:noFill/>
          <a:ln w="25400">
            <a:solidFill>
              <a:srgbClr val="6FA37D"/>
            </a:solidFill>
            <a:prstDash val="solid"/>
            <a:tailEnd type="triangle"/>
          </a:ln>
        </p:spPr>
      </p:sp>
      <p:sp>
        <p:nvSpPr>
          <p:cNvPr id="2085533864" name="Shape 39"/>
          <p:cNvSpPr/>
          <p:nvPr/>
        </p:nvSpPr>
        <p:spPr bwMode="auto">
          <a:xfrm>
            <a:off x="4626864" y="5715000"/>
            <a:ext cx="2926080" cy="365760"/>
          </a:xfrm>
          <a:prstGeom prst="roundRect">
            <a:avLst>
              <a:gd name="adj" fmla="val 17500"/>
            </a:avLst>
          </a:prstGeom>
          <a:solidFill>
            <a:srgbClr val="0A1F15"/>
          </a:solidFill>
          <a:ln/>
          <a:effectLst>
            <a:outerShdw blurRad="50800" dist="12700" dir="5400000" sx="100000" sy="100000" kx="0" ky="0" algn="bl" rotWithShape="0">
              <a:srgbClr val="153A2B">
                <a:alpha val="15000"/>
              </a:srgbClr>
            </a:outerShdw>
          </a:effectLst>
        </p:spPr>
      </p:sp>
      <p:sp>
        <p:nvSpPr>
          <p:cNvPr id="503067479" name="Text 40"/>
          <p:cNvSpPr txBox="1"/>
          <p:nvPr/>
        </p:nvSpPr>
        <p:spPr bwMode="auto">
          <a:xfrm>
            <a:off x="4626864" y="5715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WEB INTERFACE</a:t>
            </a:r>
            <a:endParaRPr lang="en-US" sz="1200"/>
          </a:p>
        </p:txBody>
      </p:sp>
      <p:sp>
        <p:nvSpPr>
          <p:cNvPr id="1466477290" name="Text 42"/>
          <p:cNvSpPr txBox="1"/>
          <p:nvPr/>
        </p:nvSpPr>
        <p:spPr bwMode="auto"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655A"/>
                </a:solidFill>
                <a:latin typeface="Calibri"/>
                <a:ea typeface="Calibri"/>
                <a:cs typeface="Calibri"/>
              </a:rPr>
              <a:t>08 / 16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483461" name="Shape 0"/>
          <p:cNvSpPr/>
          <p:nvPr/>
        </p:nvSpPr>
        <p:spPr bwMode="auto">
          <a:xfrm>
            <a:off x="256032" y="402336"/>
            <a:ext cx="54864" cy="1106424"/>
          </a:xfrm>
          <a:prstGeom prst="rect">
            <a:avLst/>
          </a:prstGeom>
          <a:solidFill>
            <a:srgbClr val="C98A3D"/>
          </a:solidFill>
          <a:ln/>
        </p:spPr>
      </p:sp>
      <p:sp>
        <p:nvSpPr>
          <p:cNvPr id="1074871648" name="Text 1"/>
          <p:cNvSpPr txBox="1"/>
          <p:nvPr/>
        </p:nvSpPr>
        <p:spPr bwMode="auto">
          <a:xfrm>
            <a:off x="502920" y="384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CORE ALGORITHMS</a:t>
            </a:r>
            <a:endParaRPr lang="en-US" sz="1200"/>
          </a:p>
        </p:txBody>
      </p:sp>
      <p:sp>
        <p:nvSpPr>
          <p:cNvPr id="1892230232" name="Text 2"/>
          <p:cNvSpPr txBox="1"/>
          <p:nvPr/>
        </p:nvSpPr>
        <p:spPr bwMode="auto">
          <a:xfrm>
            <a:off x="457200" y="62179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300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Algorithm &amp; Pseudocode</a:t>
            </a:r>
            <a:endParaRPr lang="en-US" sz="3000"/>
          </a:p>
        </p:txBody>
      </p:sp>
      <p:sp>
        <p:nvSpPr>
          <p:cNvPr id="345779640" name="Shape 3"/>
          <p:cNvSpPr/>
          <p:nvPr/>
        </p:nvSpPr>
        <p:spPr bwMode="auto">
          <a:xfrm>
            <a:off x="457200" y="1554480"/>
            <a:ext cx="3636264" cy="4709160"/>
          </a:xfrm>
          <a:prstGeom prst="roundRect">
            <a:avLst>
              <a:gd name="adj" fmla="val 2012"/>
            </a:avLst>
          </a:prstGeom>
          <a:solidFill>
            <a:srgbClr val="0A1F15"/>
          </a:solidFill>
          <a:ln/>
        </p:spPr>
      </p:sp>
      <p:sp>
        <p:nvSpPr>
          <p:cNvPr id="506522138" name="Text 4"/>
          <p:cNvSpPr txBox="1"/>
          <p:nvPr/>
        </p:nvSpPr>
        <p:spPr bwMode="auto">
          <a:xfrm>
            <a:off x="640080" y="1719072"/>
            <a:ext cx="327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200" b="1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KD-TREE — NEAREST NEIGHBOR</a:t>
            </a:r>
            <a:endParaRPr lang="en-US" sz="1200"/>
          </a:p>
        </p:txBody>
      </p:sp>
      <p:sp>
        <p:nvSpPr>
          <p:cNvPr id="1942228837" name="Shape 5"/>
          <p:cNvSpPr/>
          <p:nvPr/>
        </p:nvSpPr>
        <p:spPr bwMode="auto">
          <a:xfrm>
            <a:off x="640080" y="2286000"/>
            <a:ext cx="3270504" cy="3566160"/>
          </a:xfrm>
          <a:prstGeom prst="roundRect">
            <a:avLst>
              <a:gd name="adj" fmla="val 1678"/>
            </a:avLst>
          </a:prstGeom>
          <a:solidFill>
            <a:srgbClr val="0C1F16"/>
          </a:solidFill>
          <a:ln/>
        </p:spPr>
      </p:sp>
      <p:sp>
        <p:nvSpPr>
          <p:cNvPr id="1244860396" name="Text 6"/>
          <p:cNvSpPr txBox="1"/>
          <p:nvPr/>
        </p:nvSpPr>
        <p:spPr bwMode="auto">
          <a:xfrm>
            <a:off x="777240" y="2423160"/>
            <a:ext cx="299618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BFE3CC"/>
                </a:solidFill>
                <a:latin typeface="Courier New"/>
                <a:ea typeface="Courier New"/>
                <a:cs typeface="Courier New"/>
              </a:rPr>
              <a:t>NearestSearch(node, target):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BFE3CC"/>
                </a:solidFill>
                <a:latin typeface="Courier New"/>
                <a:ea typeface="Courier New"/>
                <a:cs typeface="Courier New"/>
              </a:rPr>
              <a:t>  if node is null: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BFE3CC"/>
                </a:solidFill>
                <a:latin typeface="Courier New"/>
                <a:ea typeface="Courier New"/>
                <a:cs typeface="Courier New"/>
              </a:rPr>
              <a:t>    return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BFE3CC"/>
                </a:solidFill>
                <a:latin typeface="Courier New"/>
                <a:ea typeface="Courier New"/>
                <a:cs typeface="Courier New"/>
              </a:rPr>
              <a:t>  calculate distance to target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BFE3CC"/>
                </a:solidFill>
                <a:latin typeface="Courier New"/>
                <a:ea typeface="Courier New"/>
                <a:cs typeface="Courier New"/>
              </a:rPr>
              <a:t>  update nearest sensor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BFE3CC"/>
                </a:solidFill>
                <a:latin typeface="Courier New"/>
                <a:ea typeface="Courier New"/>
                <a:cs typeface="Courier New"/>
              </a:rPr>
              <a:t>  select nearer subtree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BFE3CC"/>
                </a:solidFill>
                <a:latin typeface="Courier New"/>
                <a:ea typeface="Courier New"/>
                <a:cs typeface="Courier New"/>
              </a:rPr>
              <a:t>  search nearer subtree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BFE3CC"/>
                </a:solidFill>
                <a:latin typeface="Courier New"/>
                <a:ea typeface="Courier New"/>
                <a:cs typeface="Courier New"/>
              </a:rPr>
              <a:t>  if splitting plane may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BFE3CC"/>
                </a:solidFill>
                <a:latin typeface="Courier New"/>
                <a:ea typeface="Courier New"/>
                <a:cs typeface="Courier New"/>
              </a:rPr>
              <a:t>  contain closer point: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BFE3CC"/>
                </a:solidFill>
                <a:latin typeface="Courier New"/>
                <a:ea typeface="Courier New"/>
                <a:cs typeface="Courier New"/>
              </a:rPr>
              <a:t>    search opposite subtree</a:t>
            </a:r>
            <a:endParaRPr lang="en-US" sz="1050"/>
          </a:p>
        </p:txBody>
      </p:sp>
      <p:sp>
        <p:nvSpPr>
          <p:cNvPr id="708564774" name="Shape 7"/>
          <p:cNvSpPr/>
          <p:nvPr/>
        </p:nvSpPr>
        <p:spPr bwMode="auto">
          <a:xfrm>
            <a:off x="4276344" y="1554480"/>
            <a:ext cx="3636264" cy="4709160"/>
          </a:xfrm>
          <a:prstGeom prst="roundRect">
            <a:avLst>
              <a:gd name="adj" fmla="val 2012"/>
            </a:avLst>
          </a:prstGeom>
          <a:solidFill>
            <a:srgbClr val="EEF4EE"/>
          </a:solidFill>
          <a:ln/>
        </p:spPr>
      </p:sp>
      <p:sp>
        <p:nvSpPr>
          <p:cNvPr id="406956309" name="Text 8"/>
          <p:cNvSpPr txBox="1"/>
          <p:nvPr/>
        </p:nvSpPr>
        <p:spPr bwMode="auto">
          <a:xfrm>
            <a:off x="4459224" y="1719072"/>
            <a:ext cx="327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200" b="1">
                <a:solidFill>
                  <a:srgbClr val="153A2B"/>
                </a:solidFill>
                <a:latin typeface="Calibri"/>
                <a:ea typeface="Calibri"/>
                <a:cs typeface="Calibri"/>
              </a:rPr>
              <a:t>RANGE TREE</a:t>
            </a:r>
            <a:endParaRPr lang="en-US" sz="1200"/>
          </a:p>
        </p:txBody>
      </p:sp>
      <p:sp>
        <p:nvSpPr>
          <p:cNvPr id="794735503" name="Shape 9"/>
          <p:cNvSpPr/>
          <p:nvPr/>
        </p:nvSpPr>
        <p:spPr bwMode="auto">
          <a:xfrm>
            <a:off x="4459224" y="2286000"/>
            <a:ext cx="3270504" cy="3566160"/>
          </a:xfrm>
          <a:prstGeom prst="roundRect">
            <a:avLst>
              <a:gd name="adj" fmla="val 1678"/>
            </a:avLst>
          </a:prstGeom>
          <a:solidFill>
            <a:srgbClr val="E4EEE1"/>
          </a:solidFill>
          <a:ln/>
        </p:spPr>
      </p:sp>
      <p:sp>
        <p:nvSpPr>
          <p:cNvPr id="936493991" name="Text 10"/>
          <p:cNvSpPr txBox="1"/>
          <p:nvPr/>
        </p:nvSpPr>
        <p:spPr bwMode="auto">
          <a:xfrm>
            <a:off x="4596384" y="2423160"/>
            <a:ext cx="299618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153A2B"/>
                </a:solidFill>
                <a:latin typeface="Courier New"/>
                <a:ea typeface="Courier New"/>
                <a:cs typeface="Courier New"/>
              </a:rPr>
              <a:t>RangeSearch(node, rectangle):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153A2B"/>
                </a:solidFill>
                <a:latin typeface="Courier New"/>
                <a:ea typeface="Courier New"/>
                <a:cs typeface="Courier New"/>
              </a:rPr>
              <a:t>  if subtree outside X-range: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153A2B"/>
                </a:solidFill>
                <a:latin typeface="Courier New"/>
                <a:ea typeface="Courier New"/>
                <a:cs typeface="Courier New"/>
              </a:rPr>
              <a:t>    return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153A2B"/>
                </a:solidFill>
                <a:latin typeface="Courier New"/>
                <a:ea typeface="Courier New"/>
                <a:cs typeface="Courier New"/>
              </a:rPr>
              <a:t>  if subtree completely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153A2B"/>
                </a:solidFill>
                <a:latin typeface="Courier New"/>
                <a:ea typeface="Courier New"/>
                <a:cs typeface="Courier New"/>
              </a:rPr>
              <a:t>  inside X-range: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153A2B"/>
                </a:solidFill>
                <a:latin typeface="Courier New"/>
                <a:ea typeface="Courier New"/>
                <a:cs typeface="Courier New"/>
              </a:rPr>
              <a:t>    binary-search Y catalog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153A2B"/>
                </a:solidFill>
                <a:latin typeface="Courier New"/>
                <a:ea typeface="Courier New"/>
                <a:cs typeface="Courier New"/>
              </a:rPr>
              <a:t>    report sensors in Y-range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153A2B"/>
                </a:solidFill>
                <a:latin typeface="Courier New"/>
                <a:ea typeface="Courier New"/>
                <a:cs typeface="Courier New"/>
              </a:rPr>
              <a:t>    return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153A2B"/>
                </a:solidFill>
                <a:latin typeface="Courier New"/>
                <a:ea typeface="Courier New"/>
                <a:cs typeface="Courier New"/>
              </a:rPr>
              <a:t>  check pivot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153A2B"/>
                </a:solidFill>
                <a:latin typeface="Courier New"/>
                <a:ea typeface="Courier New"/>
                <a:cs typeface="Courier New"/>
              </a:rPr>
              <a:t>  search left subtree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153A2B"/>
                </a:solidFill>
                <a:latin typeface="Courier New"/>
                <a:ea typeface="Courier New"/>
                <a:cs typeface="Courier New"/>
              </a:rPr>
              <a:t>  search right subtree</a:t>
            </a:r>
            <a:endParaRPr lang="en-US" sz="1050"/>
          </a:p>
        </p:txBody>
      </p:sp>
      <p:sp>
        <p:nvSpPr>
          <p:cNvPr id="1895706992" name="Shape 11"/>
          <p:cNvSpPr/>
          <p:nvPr/>
        </p:nvSpPr>
        <p:spPr bwMode="auto">
          <a:xfrm>
            <a:off x="8095488" y="1554480"/>
            <a:ext cx="3636264" cy="4709160"/>
          </a:xfrm>
          <a:prstGeom prst="roundRect">
            <a:avLst>
              <a:gd name="adj" fmla="val 2012"/>
            </a:avLst>
          </a:prstGeom>
          <a:solidFill>
            <a:srgbClr val="FBF3E7"/>
          </a:solidFill>
          <a:ln/>
        </p:spPr>
      </p:sp>
      <p:sp>
        <p:nvSpPr>
          <p:cNvPr id="152016414" name="Text 12"/>
          <p:cNvSpPr txBox="1"/>
          <p:nvPr/>
        </p:nvSpPr>
        <p:spPr bwMode="auto">
          <a:xfrm>
            <a:off x="8278368" y="1719072"/>
            <a:ext cx="327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200" b="1">
                <a:solidFill>
                  <a:srgbClr val="9C6A28"/>
                </a:solidFill>
                <a:latin typeface="Calibri"/>
                <a:ea typeface="Calibri"/>
                <a:cs typeface="Calibri"/>
              </a:rPr>
              <a:t>FRACTIONAL CASCADING</a:t>
            </a:r>
            <a:endParaRPr lang="en-US" sz="1200"/>
          </a:p>
        </p:txBody>
      </p:sp>
      <p:sp>
        <p:nvSpPr>
          <p:cNvPr id="15883677" name="Shape 13"/>
          <p:cNvSpPr/>
          <p:nvPr/>
        </p:nvSpPr>
        <p:spPr bwMode="auto">
          <a:xfrm>
            <a:off x="8278368" y="2286000"/>
            <a:ext cx="3270504" cy="3566160"/>
          </a:xfrm>
          <a:prstGeom prst="roundRect">
            <a:avLst>
              <a:gd name="adj" fmla="val 1678"/>
            </a:avLst>
          </a:prstGeom>
          <a:solidFill>
            <a:srgbClr val="F3E3CE"/>
          </a:solidFill>
          <a:ln/>
        </p:spPr>
      </p:sp>
      <p:sp>
        <p:nvSpPr>
          <p:cNvPr id="930417688" name="Text 14"/>
          <p:cNvSpPr txBox="1"/>
          <p:nvPr/>
        </p:nvSpPr>
        <p:spPr bwMode="auto">
          <a:xfrm>
            <a:off x="8415528" y="2423160"/>
            <a:ext cx="299618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6B3A12"/>
                </a:solidFill>
                <a:latin typeface="Courier New"/>
                <a:ea typeface="Courier New"/>
                <a:cs typeface="Courier New"/>
              </a:rPr>
              <a:t>Search(target):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6B3A12"/>
                </a:solidFill>
                <a:latin typeface="Courier New"/>
                <a:ea typeface="Courier New"/>
                <a:cs typeface="Courier New"/>
              </a:rPr>
              <a:t>  binary-search main catalog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6B3A12"/>
                </a:solidFill>
                <a:latin typeface="Courier New"/>
                <a:ea typeface="Courier New"/>
                <a:cs typeface="Courier New"/>
              </a:rPr>
              <a:t>  follow bridge to next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6B3A12"/>
                </a:solidFill>
                <a:latin typeface="Courier New"/>
                <a:ea typeface="Courier New"/>
                <a:cs typeface="Courier New"/>
              </a:rPr>
              <a:t>  catalog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6B3A12"/>
                </a:solidFill>
                <a:latin typeface="Courier New"/>
                <a:ea typeface="Courier New"/>
                <a:cs typeface="Courier New"/>
              </a:rPr>
              <a:t>  locally correct position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6B3A12"/>
                </a:solidFill>
                <a:latin typeface="Courier New"/>
                <a:ea typeface="Courier New"/>
                <a:cs typeface="Courier New"/>
              </a:rPr>
              <a:t>  follow bridge to final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6B3A12"/>
                </a:solidFill>
                <a:latin typeface="Courier New"/>
                <a:ea typeface="Courier New"/>
                <a:cs typeface="Courier New"/>
              </a:rPr>
              <a:t>  catalog</a:t>
            </a: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endParaRPr lang="en-US" sz="1050"/>
          </a:p>
          <a:p>
            <a:pPr marL="0" indent="0">
              <a:lnSpc>
                <a:spcPct val="128000"/>
              </a:lnSpc>
              <a:buNone/>
              <a:defRPr/>
            </a:pPr>
            <a:r>
              <a:rPr lang="en-US" sz="1050">
                <a:solidFill>
                  <a:srgbClr val="6B3A12"/>
                </a:solidFill>
                <a:latin typeface="Courier New"/>
                <a:ea typeface="Courier New"/>
                <a:cs typeface="Courier New"/>
              </a:rPr>
              <a:t>  return matching positions</a:t>
            </a:r>
            <a:endParaRPr lang="en-US" sz="1050"/>
          </a:p>
        </p:txBody>
      </p:sp>
      <p:sp>
        <p:nvSpPr>
          <p:cNvPr id="341772644" name="Text 16"/>
          <p:cNvSpPr txBox="1"/>
          <p:nvPr/>
        </p:nvSpPr>
        <p:spPr bwMode="auto"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655A"/>
                </a:solidFill>
                <a:latin typeface="Calibri"/>
                <a:ea typeface="Calibri"/>
                <a:cs typeface="Calibri"/>
              </a:rPr>
              <a:t>09 / 16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044047" name="Shape 0"/>
          <p:cNvSpPr/>
          <p:nvPr/>
        </p:nvSpPr>
        <p:spPr bwMode="auto">
          <a:xfrm>
            <a:off x="256032" y="402336"/>
            <a:ext cx="54864" cy="1106424"/>
          </a:xfrm>
          <a:prstGeom prst="rect">
            <a:avLst/>
          </a:prstGeom>
          <a:solidFill>
            <a:srgbClr val="C98A3D"/>
          </a:solidFill>
          <a:ln/>
        </p:spPr>
      </p:sp>
      <p:sp>
        <p:nvSpPr>
          <p:cNvPr id="1286603350" name="Text 1"/>
          <p:cNvSpPr txBox="1"/>
          <p:nvPr/>
        </p:nvSpPr>
        <p:spPr bwMode="auto">
          <a:xfrm>
            <a:off x="502920" y="384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BUILD</a:t>
            </a:r>
            <a:endParaRPr lang="en-US" sz="1200"/>
          </a:p>
        </p:txBody>
      </p:sp>
      <p:sp>
        <p:nvSpPr>
          <p:cNvPr id="1906511474" name="Text 2"/>
          <p:cNvSpPr txBox="1"/>
          <p:nvPr/>
        </p:nvSpPr>
        <p:spPr bwMode="auto">
          <a:xfrm>
            <a:off x="457200" y="62179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300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Implementation</a:t>
            </a:r>
            <a:endParaRPr lang="en-US" sz="3000"/>
          </a:p>
        </p:txBody>
      </p:sp>
      <p:sp>
        <p:nvSpPr>
          <p:cNvPr id="1882878660" name="Shape 3"/>
          <p:cNvSpPr/>
          <p:nvPr/>
        </p:nvSpPr>
        <p:spPr bwMode="auto">
          <a:xfrm>
            <a:off x="457200" y="155448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EEF4EE"/>
          </a:solidFill>
          <a:ln/>
          <a:effectLst>
            <a:outerShdw blurRad="76200" dist="25400" dir="5400000" sx="100000" sy="100000" kx="0" ky="0" algn="bl" rotWithShape="0">
              <a:srgbClr val="153A2B">
                <a:alpha val="12000"/>
              </a:srgbClr>
            </a:outerShdw>
          </a:effectLst>
        </p:spPr>
      </p:sp>
      <p:sp>
        <p:nvSpPr>
          <p:cNvPr id="1761875844" name="Text 4"/>
          <p:cNvSpPr txBox="1"/>
          <p:nvPr/>
        </p:nvSpPr>
        <p:spPr bwMode="auto">
          <a:xfrm>
            <a:off x="685800" y="1719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153A2B"/>
                </a:solidFill>
                <a:latin typeface="Calibri"/>
                <a:ea typeface="Calibri"/>
                <a:cs typeface="Calibri"/>
              </a:rPr>
              <a:t>TECHNOLOGY</a:t>
            </a:r>
            <a:endParaRPr lang="en-US" sz="1100"/>
          </a:p>
        </p:txBody>
      </p:sp>
      <p:sp>
        <p:nvSpPr>
          <p:cNvPr id="1826040335" name="Text 5"/>
          <p:cNvSpPr txBox="1"/>
          <p:nvPr/>
        </p:nvSpPr>
        <p:spPr bwMode="auto">
          <a:xfrm>
            <a:off x="685800" y="205740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  <a:defRPr/>
            </a:pPr>
            <a:r>
              <a:rPr lang="en-US" sz="115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Java</a:t>
            </a:r>
            <a:endParaRPr lang="en-US" sz="1150"/>
          </a:p>
          <a:p>
            <a:pPr marL="177800" indent="-177800">
              <a:spcAft>
                <a:spcPts val="800"/>
              </a:spcAft>
              <a:buSzPct val="100000"/>
              <a:buChar char="▪"/>
              <a:defRPr/>
            </a:pPr>
            <a:r>
              <a:rPr lang="en-US" sz="115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Java Collections Framework</a:t>
            </a:r>
            <a:endParaRPr lang="en-US" sz="1150"/>
          </a:p>
          <a:p>
            <a:pPr marL="177800" indent="-177800">
              <a:spcAft>
                <a:spcPts val="800"/>
              </a:spcAft>
              <a:buSzPct val="100000"/>
              <a:buChar char="▪"/>
              <a:defRPr/>
            </a:pPr>
            <a:r>
              <a:rPr lang="en-US" sz="115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HttpServer for backend / API</a:t>
            </a:r>
            <a:endParaRPr lang="en-US" sz="1150"/>
          </a:p>
          <a:p>
            <a:pPr marL="177800" indent="-177800">
              <a:spcAft>
                <a:spcPts val="800"/>
              </a:spcAft>
              <a:buSzPct val="100000"/>
              <a:buChar char="▪"/>
              <a:defRPr/>
            </a:pPr>
            <a:r>
              <a:rPr lang="en-US" sz="115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HTML / CSS / JavaScript frontend</a:t>
            </a:r>
            <a:endParaRPr lang="en-US" sz="1150"/>
          </a:p>
          <a:p>
            <a:pPr marL="177800" indent="-177800">
              <a:spcAft>
                <a:spcPts val="800"/>
              </a:spcAft>
              <a:buSzPct val="100000"/>
              <a:buChar char="▪"/>
              <a:defRPr/>
            </a:pPr>
            <a:r>
              <a:rPr lang="en-US" sz="115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CSV-based sensor dataset</a:t>
            </a:r>
            <a:endParaRPr lang="en-US" sz="1150"/>
          </a:p>
        </p:txBody>
      </p:sp>
      <p:sp>
        <p:nvSpPr>
          <p:cNvPr id="75466227" name="Shape 6"/>
          <p:cNvSpPr/>
          <p:nvPr/>
        </p:nvSpPr>
        <p:spPr bwMode="auto">
          <a:xfrm>
            <a:off x="4251960" y="1554480"/>
            <a:ext cx="3291840" cy="4434840"/>
          </a:xfrm>
          <a:prstGeom prst="roundRect">
            <a:avLst>
              <a:gd name="adj" fmla="val 2222"/>
            </a:avLst>
          </a:prstGeom>
          <a:solidFill>
            <a:srgbClr val="FBF3E7"/>
          </a:solidFill>
          <a:ln/>
          <a:effectLst>
            <a:outerShdw blurRad="76200" dist="25400" dir="5400000" sx="100000" sy="100000" kx="0" ky="0" algn="bl" rotWithShape="0">
              <a:srgbClr val="153A2B">
                <a:alpha val="12000"/>
              </a:srgbClr>
            </a:outerShdw>
          </a:effectLst>
        </p:spPr>
      </p:sp>
      <p:sp>
        <p:nvSpPr>
          <p:cNvPr id="912760293" name="Text 7"/>
          <p:cNvSpPr txBox="1"/>
          <p:nvPr/>
        </p:nvSpPr>
        <p:spPr bwMode="auto">
          <a:xfrm>
            <a:off x="4480560" y="17190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9C6A28"/>
                </a:solidFill>
                <a:latin typeface="Calibri"/>
                <a:ea typeface="Calibri"/>
                <a:cs typeface="Calibri"/>
              </a:rPr>
              <a:t>MAIN CLASSES</a:t>
            </a:r>
            <a:endParaRPr lang="en-US" sz="1100"/>
          </a:p>
        </p:txBody>
      </p:sp>
      <p:sp>
        <p:nvSpPr>
          <p:cNvPr id="1005345945" name="Text 8"/>
          <p:cNvSpPr txBox="1"/>
          <p:nvPr/>
        </p:nvSpPr>
        <p:spPr bwMode="auto">
          <a:xfrm>
            <a:off x="4480560" y="20574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53A2B"/>
                </a:solidFill>
                <a:latin typeface="Courier New"/>
                <a:ea typeface="Courier New"/>
                <a:cs typeface="Courier New"/>
              </a:rPr>
              <a:t>Sensor</a:t>
            </a:r>
            <a:endParaRPr lang="en-US" sz="1150"/>
          </a:p>
        </p:txBody>
      </p:sp>
      <p:sp>
        <p:nvSpPr>
          <p:cNvPr id="506730094" name="Shape 9"/>
          <p:cNvSpPr/>
          <p:nvPr/>
        </p:nvSpPr>
        <p:spPr bwMode="auto">
          <a:xfrm>
            <a:off x="4937760" y="2313432"/>
            <a:ext cx="9144" cy="100584"/>
          </a:xfrm>
          <a:prstGeom prst="line">
            <a:avLst/>
          </a:prstGeom>
          <a:noFill/>
          <a:ln w="15875">
            <a:solidFill>
              <a:srgbClr val="6FA37D"/>
            </a:solidFill>
            <a:prstDash val="solid"/>
            <a:tailEnd type="triangle"/>
          </a:ln>
        </p:spPr>
      </p:sp>
      <p:sp>
        <p:nvSpPr>
          <p:cNvPr id="1434563300" name="Text 10"/>
          <p:cNvSpPr txBox="1"/>
          <p:nvPr/>
        </p:nvSpPr>
        <p:spPr bwMode="auto">
          <a:xfrm>
            <a:off x="4480560" y="23865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 b="1">
                <a:solidFill>
                  <a:srgbClr val="153A2B"/>
                </a:solidFill>
                <a:latin typeface="Courier New"/>
                <a:ea typeface="Courier New"/>
                <a:cs typeface="Courier New"/>
              </a:rPr>
              <a:t>SensorManager</a:t>
            </a:r>
            <a:endParaRPr lang="en-US" sz="1150"/>
          </a:p>
        </p:txBody>
      </p:sp>
      <p:sp>
        <p:nvSpPr>
          <p:cNvPr id="1718200428" name="Text 11"/>
          <p:cNvSpPr txBox="1"/>
          <p:nvPr/>
        </p:nvSpPr>
        <p:spPr bwMode="auto">
          <a:xfrm>
            <a:off x="4800600" y="27157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9C6A28"/>
                </a:solidFill>
                <a:latin typeface="Courier New"/>
                <a:ea typeface="Courier New"/>
                <a:cs typeface="Courier New"/>
              </a:rPr>
              <a:t>KDTree</a:t>
            </a:r>
            <a:endParaRPr lang="en-US" sz="1150"/>
          </a:p>
        </p:txBody>
      </p:sp>
      <p:sp>
        <p:nvSpPr>
          <p:cNvPr id="1806862834" name="Text 12"/>
          <p:cNvSpPr txBox="1"/>
          <p:nvPr/>
        </p:nvSpPr>
        <p:spPr bwMode="auto">
          <a:xfrm>
            <a:off x="4800600" y="30449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9C6A28"/>
                </a:solidFill>
                <a:latin typeface="Courier New"/>
                <a:ea typeface="Courier New"/>
                <a:cs typeface="Courier New"/>
              </a:rPr>
              <a:t>RangeIndex</a:t>
            </a:r>
            <a:endParaRPr lang="en-US" sz="1150"/>
          </a:p>
        </p:txBody>
      </p:sp>
      <p:sp>
        <p:nvSpPr>
          <p:cNvPr id="898556823" name="Text 13"/>
          <p:cNvSpPr txBox="1"/>
          <p:nvPr/>
        </p:nvSpPr>
        <p:spPr bwMode="auto">
          <a:xfrm>
            <a:off x="4800600" y="337413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9C6A28"/>
                </a:solidFill>
                <a:latin typeface="Courier New"/>
                <a:ea typeface="Courier New"/>
                <a:cs typeface="Courier New"/>
              </a:rPr>
              <a:t>FractionalCascade</a:t>
            </a:r>
            <a:endParaRPr lang="en-US" sz="1150"/>
          </a:p>
        </p:txBody>
      </p:sp>
      <p:sp>
        <p:nvSpPr>
          <p:cNvPr id="322287606" name="Shape 14"/>
          <p:cNvSpPr/>
          <p:nvPr/>
        </p:nvSpPr>
        <p:spPr bwMode="auto">
          <a:xfrm>
            <a:off x="4937760" y="3630168"/>
            <a:ext cx="9144" cy="100584"/>
          </a:xfrm>
          <a:prstGeom prst="line">
            <a:avLst/>
          </a:prstGeom>
          <a:noFill/>
          <a:ln w="15875">
            <a:solidFill>
              <a:srgbClr val="6FA37D"/>
            </a:solidFill>
            <a:prstDash val="solid"/>
            <a:tailEnd type="triangle"/>
          </a:ln>
        </p:spPr>
      </p:sp>
      <p:sp>
        <p:nvSpPr>
          <p:cNvPr id="1834801360" name="Text 15"/>
          <p:cNvSpPr txBox="1"/>
          <p:nvPr/>
        </p:nvSpPr>
        <p:spPr bwMode="auto">
          <a:xfrm>
            <a:off x="4480560" y="3703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53A2B"/>
                </a:solidFill>
                <a:latin typeface="Courier New"/>
                <a:ea typeface="Courier New"/>
                <a:cs typeface="Courier New"/>
              </a:rPr>
              <a:t>IrrigationService</a:t>
            </a:r>
            <a:endParaRPr lang="en-US" sz="1150"/>
          </a:p>
        </p:txBody>
      </p:sp>
      <p:sp>
        <p:nvSpPr>
          <p:cNvPr id="1923156718" name="Text 16"/>
          <p:cNvSpPr txBox="1"/>
          <p:nvPr/>
        </p:nvSpPr>
        <p:spPr bwMode="auto">
          <a:xfrm>
            <a:off x="4480560" y="40325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53A2B"/>
                </a:solidFill>
                <a:latin typeface="Courier New"/>
                <a:ea typeface="Courier New"/>
                <a:cs typeface="Courier New"/>
              </a:rPr>
              <a:t>FertilizerService</a:t>
            </a:r>
            <a:endParaRPr lang="en-US" sz="1150"/>
          </a:p>
        </p:txBody>
      </p:sp>
      <p:sp>
        <p:nvSpPr>
          <p:cNvPr id="473284648" name="Text 17"/>
          <p:cNvSpPr txBox="1"/>
          <p:nvPr/>
        </p:nvSpPr>
        <p:spPr bwMode="auto">
          <a:xfrm>
            <a:off x="4480560" y="43616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53A2B"/>
                </a:solidFill>
                <a:latin typeface="Courier New"/>
                <a:ea typeface="Courier New"/>
                <a:cs typeface="Courier New"/>
              </a:rPr>
              <a:t>CSVLoader</a:t>
            </a:r>
            <a:endParaRPr lang="en-US" sz="1150"/>
          </a:p>
        </p:txBody>
      </p:sp>
      <p:sp>
        <p:nvSpPr>
          <p:cNvPr id="338101659" name="Text 18"/>
          <p:cNvSpPr txBox="1"/>
          <p:nvPr/>
        </p:nvSpPr>
        <p:spPr bwMode="auto">
          <a:xfrm>
            <a:off x="4480560" y="46908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53A2B"/>
                </a:solidFill>
                <a:latin typeface="Courier New"/>
                <a:ea typeface="Courier New"/>
                <a:cs typeface="Courier New"/>
              </a:rPr>
              <a:t>Main</a:t>
            </a:r>
            <a:endParaRPr lang="en-US" sz="1150"/>
          </a:p>
        </p:txBody>
      </p:sp>
      <p:sp>
        <p:nvSpPr>
          <p:cNvPr id="1618315679" name="Shape 19"/>
          <p:cNvSpPr/>
          <p:nvPr/>
        </p:nvSpPr>
        <p:spPr bwMode="auto">
          <a:xfrm>
            <a:off x="7662672" y="1554480"/>
            <a:ext cx="4069080" cy="4434840"/>
          </a:xfrm>
          <a:prstGeom prst="roundRect">
            <a:avLst>
              <a:gd name="adj" fmla="val 1798"/>
            </a:avLst>
          </a:prstGeom>
          <a:solidFill>
            <a:srgbClr val="0A1F15"/>
          </a:solidFill>
          <a:ln/>
        </p:spPr>
      </p:sp>
      <p:sp>
        <p:nvSpPr>
          <p:cNvPr id="1512375704" name="Text 20"/>
          <p:cNvSpPr txBox="1"/>
          <p:nvPr/>
        </p:nvSpPr>
        <p:spPr bwMode="auto">
          <a:xfrm>
            <a:off x="7891272" y="1719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UI MODULES</a:t>
            </a:r>
            <a:endParaRPr lang="en-US" sz="1100"/>
          </a:p>
        </p:txBody>
      </p:sp>
      <p:sp>
        <p:nvSpPr>
          <p:cNvPr id="1646888096" name="Text 21"/>
          <p:cNvSpPr txBox="1"/>
          <p:nvPr/>
        </p:nvSpPr>
        <p:spPr bwMode="auto">
          <a:xfrm>
            <a:off x="7891272" y="208483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Dashboard</a:t>
            </a:r>
            <a:b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en-US" sz="1000">
                <a:solidFill>
                  <a:srgbClr val="AFC9AF"/>
                </a:solidFill>
                <a:latin typeface="Calibri"/>
                <a:ea typeface="Calibri"/>
                <a:cs typeface="Calibri"/>
              </a:rPr>
              <a:t>Overview of the live sensor network</a:t>
            </a:r>
            <a:endParaRPr lang="en-US" sz="1250"/>
          </a:p>
        </p:txBody>
      </p:sp>
      <p:sp>
        <p:nvSpPr>
          <p:cNvPr id="1339338119" name="Text 22"/>
          <p:cNvSpPr txBox="1"/>
          <p:nvPr/>
        </p:nvSpPr>
        <p:spPr bwMode="auto">
          <a:xfrm>
            <a:off x="7891272" y="286207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Field Explorer</a:t>
            </a:r>
            <a:b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en-US" sz="1000">
                <a:solidFill>
                  <a:srgbClr val="AFC9AF"/>
                </a:solidFill>
                <a:latin typeface="Calibri"/>
                <a:ea typeface="Calibri"/>
                <a:cs typeface="Calibri"/>
              </a:rPr>
              <a:t>Map-based nearest &amp; range queries</a:t>
            </a:r>
            <a:endParaRPr lang="en-US" sz="1250"/>
          </a:p>
        </p:txBody>
      </p:sp>
      <p:sp>
        <p:nvSpPr>
          <p:cNvPr id="1815673614" name="Text 23"/>
          <p:cNvSpPr txBox="1"/>
          <p:nvPr/>
        </p:nvSpPr>
        <p:spPr bwMode="auto">
          <a:xfrm>
            <a:off x="7891272" y="363931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Soil Intelligence</a:t>
            </a:r>
            <a:b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en-US" sz="1000">
                <a:solidFill>
                  <a:srgbClr val="AFC9AF"/>
                </a:solidFill>
                <a:latin typeface="Calibri"/>
                <a:ea typeface="Calibri"/>
                <a:cs typeface="Calibri"/>
              </a:rPr>
              <a:t>pH / nutrient analysis &amp; fertilizer suggestions</a:t>
            </a:r>
            <a:endParaRPr lang="en-US" sz="1250"/>
          </a:p>
        </p:txBody>
      </p:sp>
      <p:sp>
        <p:nvSpPr>
          <p:cNvPr id="676456438" name="Text 24"/>
          <p:cNvSpPr txBox="1"/>
          <p:nvPr/>
        </p:nvSpPr>
        <p:spPr bwMode="auto">
          <a:xfrm>
            <a:off x="7891272" y="441655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Irrigation Planner</a:t>
            </a:r>
            <a:b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en-US" sz="1000">
                <a:solidFill>
                  <a:srgbClr val="AFC9AF"/>
                </a:solidFill>
                <a:latin typeface="Calibri"/>
                <a:ea typeface="Calibri"/>
                <a:cs typeface="Calibri"/>
              </a:rPr>
              <a:t>Zone-wise irrigation recommendations</a:t>
            </a:r>
            <a:endParaRPr lang="en-US" sz="1250"/>
          </a:p>
        </p:txBody>
      </p:sp>
      <p:sp>
        <p:nvSpPr>
          <p:cNvPr id="1763766621" name="Text 25"/>
          <p:cNvSpPr txBox="1"/>
          <p:nvPr/>
        </p:nvSpPr>
        <p:spPr bwMode="auto">
          <a:xfrm>
            <a:off x="7891272" y="519379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Algorithm Lab</a:t>
            </a:r>
            <a:b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en-US" sz="1000">
                <a:solidFill>
                  <a:srgbClr val="AFC9AF"/>
                </a:solidFill>
                <a:latin typeface="Calibri"/>
                <a:ea typeface="Calibri"/>
                <a:cs typeface="Calibri"/>
              </a:rPr>
              <a:t>Interactive view into KD-Tree / Range Tree / Fractional Cascading</a:t>
            </a:r>
            <a:endParaRPr lang="en-US" sz="1250"/>
          </a:p>
        </p:txBody>
      </p:sp>
      <p:sp>
        <p:nvSpPr>
          <p:cNvPr id="406378741" name="Shape 26"/>
          <p:cNvSpPr/>
          <p:nvPr/>
        </p:nvSpPr>
        <p:spPr bwMode="auto">
          <a:xfrm>
            <a:off x="457200" y="4023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0A1F15"/>
          </a:solidFill>
          <a:ln/>
        </p:spPr>
      </p:sp>
      <p:sp>
        <p:nvSpPr>
          <p:cNvPr id="747639781" name="Text 27"/>
          <p:cNvSpPr txBox="1"/>
          <p:nvPr/>
        </p:nvSpPr>
        <p:spPr bwMode="auto">
          <a:xfrm>
            <a:off x="685800" y="42062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0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Java classes drive an actual working application — not just an isolated DSA demo — proving the indexes are integrated end-to-end.</a:t>
            </a:r>
            <a:endParaRPr lang="en-US" sz="1050"/>
          </a:p>
        </p:txBody>
      </p:sp>
      <p:sp>
        <p:nvSpPr>
          <p:cNvPr id="751613403" name="Text 29"/>
          <p:cNvSpPr txBox="1"/>
          <p:nvPr/>
        </p:nvSpPr>
        <p:spPr bwMode="auto"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655A"/>
                </a:solidFill>
                <a:latin typeface="Calibri"/>
                <a:ea typeface="Calibri"/>
                <a:cs typeface="Calibri"/>
              </a:rPr>
              <a:t>10 / 16</a:t>
            </a:r>
            <a:endParaRPr lang="en-US" sz="900"/>
          </a:p>
        </p:txBody>
      </p:sp>
      <p:pic>
        <p:nvPicPr>
          <p:cNvPr id="156848699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662672" y="2057400"/>
            <a:ext cx="4069080" cy="3931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979121" name="Shape 0"/>
          <p:cNvSpPr/>
          <p:nvPr/>
        </p:nvSpPr>
        <p:spPr bwMode="auto">
          <a:xfrm>
            <a:off x="256032" y="402336"/>
            <a:ext cx="54864" cy="1106424"/>
          </a:xfrm>
          <a:prstGeom prst="rect">
            <a:avLst/>
          </a:prstGeom>
          <a:solidFill>
            <a:srgbClr val="C98A3D"/>
          </a:solidFill>
          <a:ln/>
        </p:spPr>
      </p:sp>
      <p:sp>
        <p:nvSpPr>
          <p:cNvPr id="1429687009" name="Text 1"/>
          <p:cNvSpPr txBox="1"/>
          <p:nvPr/>
        </p:nvSpPr>
        <p:spPr bwMode="auto">
          <a:xfrm>
            <a:off x="502920" y="384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ANALYSIS</a:t>
            </a:r>
            <a:endParaRPr lang="en-US" sz="1200"/>
          </a:p>
        </p:txBody>
      </p:sp>
      <p:sp>
        <p:nvSpPr>
          <p:cNvPr id="1413449381" name="Text 2"/>
          <p:cNvSpPr txBox="1"/>
          <p:nvPr/>
        </p:nvSpPr>
        <p:spPr bwMode="auto">
          <a:xfrm>
            <a:off x="457200" y="62179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300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Complexity Analysis</a:t>
            </a:r>
            <a:endParaRPr lang="en-US" sz="3000"/>
          </a:p>
        </p:txBody>
      </p:sp>
      <p:graphicFrame>
        <p:nvGraphicFramePr>
          <p:cNvPr id="1214784518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508759"/>
          <a:ext cx="11274552" cy="260604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566160"/>
                <a:gridCol w="1856232"/>
                <a:gridCol w="2039112"/>
                <a:gridCol w="2039112"/>
                <a:gridCol w="1773936"/>
              </a:tblGrid>
              <a:tr h="325755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Operation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153A2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Best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153A2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Average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153A2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Worst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153A2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Space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153A2B"/>
                    </a:solidFill>
                  </a:tcPr>
                </a:tc>
              </a:tr>
              <a:tr h="325755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000" b="1">
                          <a:solidFill>
                            <a:srgbClr val="153A2B"/>
                          </a:solidFill>
                          <a:latin typeface="Calibri"/>
                          <a:ea typeface="Calibri"/>
                          <a:cs typeface="Calibri"/>
                        </a:rPr>
                        <a:t>KD-Tree construction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O(n log n)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O(n log² n)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O(n log² n)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O(n)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</a:tr>
              <a:tr h="325755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000" b="1">
                          <a:solidFill>
                            <a:srgbClr val="153A2B"/>
                          </a:solidFill>
                          <a:latin typeface="Calibri"/>
                          <a:ea typeface="Calibri"/>
                          <a:cs typeface="Calibri"/>
                        </a:rPr>
                        <a:t>KD-Tree nearest search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O(log n)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O(log n)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O(n)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O(n)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000" b="1">
                          <a:solidFill>
                            <a:srgbClr val="153A2B"/>
                          </a:solidFill>
                          <a:latin typeface="Calibri"/>
                          <a:ea typeface="Calibri"/>
                          <a:cs typeface="Calibri"/>
                        </a:rPr>
                        <a:t>Range Tree construction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O(n log n)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O(n log² n)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O(n log² n)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O(n log n)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</a:tr>
              <a:tr h="325755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000" b="1">
                          <a:solidFill>
                            <a:srgbClr val="153A2B"/>
                          </a:solidFill>
                          <a:latin typeface="Calibri"/>
                          <a:ea typeface="Calibri"/>
                          <a:cs typeface="Calibri"/>
                        </a:rPr>
                        <a:t>Orthogonal range query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O(log n)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O(log² n + k)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O(n)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—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000" b="1">
                          <a:solidFill>
                            <a:srgbClr val="153A2B"/>
                          </a:solidFill>
                          <a:latin typeface="Calibri"/>
                          <a:ea typeface="Calibri"/>
                          <a:cs typeface="Calibri"/>
                        </a:rPr>
                        <a:t>Fractional Cascade construction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O(n log n)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O(n log n)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O(n log n)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O(n)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</a:tr>
              <a:tr h="325755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000" b="1">
                          <a:solidFill>
                            <a:srgbClr val="153A2B"/>
                          </a:solidFill>
                          <a:latin typeface="Calibri"/>
                          <a:ea typeface="Calibri"/>
                          <a:cs typeface="Calibri"/>
                        </a:rPr>
                        <a:t>Fractional Cascade query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O(log n)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O(log n + d)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O(log n + d)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—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000" b="1">
                          <a:solidFill>
                            <a:srgbClr val="153A2B"/>
                          </a:solidFill>
                          <a:latin typeface="Calibri"/>
                          <a:ea typeface="Calibri"/>
                          <a:cs typeface="Calibri"/>
                        </a:rPr>
                        <a:t>Sensor insertion / removal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O(n log n)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O(n log² n)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O(n log² n)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O(n log n)</a:t>
                      </a:r>
                      <a:endParaRPr lang="en-US" sz="10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</a:tr>
            </a:tbl>
          </a:graphicData>
        </a:graphic>
      </p:graphicFrame>
      <p:sp>
        <p:nvSpPr>
          <p:cNvPr id="1434892202" name="Text 3"/>
          <p:cNvSpPr txBox="1"/>
          <p:nvPr/>
        </p:nvSpPr>
        <p:spPr bwMode="auto">
          <a:xfrm>
            <a:off x="457200" y="4206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i="1">
                <a:solidFill>
                  <a:srgbClr val="51655A"/>
                </a:solidFill>
                <a:latin typeface="Calibri"/>
                <a:ea typeface="Calibri"/>
                <a:cs typeface="Calibri"/>
              </a:rPr>
              <a:t>n = number of sensors  ·  k = points reported by a range query  ·  d = cascaded catalogs (main, north, south)</a:t>
            </a:r>
            <a:endParaRPr lang="en-US" sz="950"/>
          </a:p>
        </p:txBody>
      </p:sp>
      <p:sp>
        <p:nvSpPr>
          <p:cNvPr id="760925824" name="Shape 4"/>
          <p:cNvSpPr/>
          <p:nvPr/>
        </p:nvSpPr>
        <p:spPr bwMode="auto">
          <a:xfrm>
            <a:off x="457200" y="45720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BF3E7"/>
          </a:solidFill>
          <a:ln/>
          <a:effectLst>
            <a:outerShdw blurRad="76200" dist="25400" dir="5400000" sx="100000" sy="100000" kx="0" ky="0" algn="bl" rotWithShape="0">
              <a:srgbClr val="153A2B">
                <a:alpha val="12000"/>
              </a:srgbClr>
            </a:outerShdw>
          </a:effectLst>
        </p:spPr>
      </p:sp>
      <p:sp>
        <p:nvSpPr>
          <p:cNvPr id="1348859613" name="Text 5"/>
          <p:cNvSpPr txBox="1"/>
          <p:nvPr/>
        </p:nvSpPr>
        <p:spPr bwMode="auto">
          <a:xfrm>
            <a:off x="685800" y="47183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 spc="30">
                <a:solidFill>
                  <a:srgbClr val="9C6A28"/>
                </a:solidFill>
                <a:latin typeface="Calibri"/>
                <a:ea typeface="Calibri"/>
                <a:cs typeface="Calibri"/>
              </a:rPr>
              <a:t>WHY NOT THE TEXTBOOK NUMBERS?</a:t>
            </a:r>
            <a:endParaRPr lang="en-US" sz="1050"/>
          </a:p>
        </p:txBody>
      </p:sp>
      <p:sp>
        <p:nvSpPr>
          <p:cNvPr id="1675300545" name="Text 6"/>
          <p:cNvSpPr txBox="1"/>
          <p:nvPr/>
        </p:nvSpPr>
        <p:spPr bwMode="auto">
          <a:xfrm>
            <a:off x="685800" y="501091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95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Our KDTree and RangeIndex classes re-sort the remaining point list at every recursive call (rather than partitioning by median in place), and RangeIndex additionally rebuilds a full sorted Y-catalog at every node. This adds a log n factor over the idealized O(n log n) build, giving an honest O(n log² n) construction cost — verified directly from the source.</a:t>
            </a:r>
            <a:endParaRPr lang="en-US" sz="950"/>
          </a:p>
        </p:txBody>
      </p:sp>
      <p:sp>
        <p:nvSpPr>
          <p:cNvPr id="538805890" name="Shape 7"/>
          <p:cNvSpPr/>
          <p:nvPr/>
        </p:nvSpPr>
        <p:spPr bwMode="auto">
          <a:xfrm>
            <a:off x="5971032" y="4572000"/>
            <a:ext cx="5760720" cy="1691640"/>
          </a:xfrm>
          <a:prstGeom prst="roundRect">
            <a:avLst>
              <a:gd name="adj" fmla="val 4324"/>
            </a:avLst>
          </a:prstGeom>
          <a:solidFill>
            <a:srgbClr val="0A1F15"/>
          </a:solidFill>
          <a:ln/>
        </p:spPr>
      </p:sp>
      <p:sp>
        <p:nvSpPr>
          <p:cNvPr id="150246704" name="Text 8"/>
          <p:cNvSpPr txBox="1"/>
          <p:nvPr/>
        </p:nvSpPr>
        <p:spPr bwMode="auto">
          <a:xfrm>
            <a:off x="6199632" y="47183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 spc="3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WHY FRACTIONAL CASCADING STAYS CLEAN</a:t>
            </a:r>
            <a:endParaRPr lang="en-US" sz="1050"/>
          </a:p>
        </p:txBody>
      </p:sp>
      <p:sp>
        <p:nvSpPr>
          <p:cNvPr id="412728454" name="Text 9"/>
          <p:cNvSpPr txBox="1"/>
          <p:nvPr/>
        </p:nvSpPr>
        <p:spPr bwMode="auto">
          <a:xfrm>
            <a:off x="6199632" y="5010912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  <a:defRPr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FractionalCascade sorts each of its three catalogs exactly once and assigns bridge pointers in a single linear pass, so its construction is the textbook O(n log n) — no repeated re-sorting penalty. Its query then collapses three catalog binary searches into one search plus O(1)-amortised bridge corrections.</a:t>
            </a:r>
            <a:endParaRPr lang="en-US" sz="950"/>
          </a:p>
        </p:txBody>
      </p:sp>
      <p:sp>
        <p:nvSpPr>
          <p:cNvPr id="542283447" name="Text 11"/>
          <p:cNvSpPr txBox="1"/>
          <p:nvPr/>
        </p:nvSpPr>
        <p:spPr bwMode="auto"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655A"/>
                </a:solidFill>
                <a:latin typeface="Calibri"/>
                <a:ea typeface="Calibri"/>
                <a:cs typeface="Calibri"/>
              </a:rPr>
              <a:t>11 / 16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0771844" name="Shape 0"/>
          <p:cNvSpPr/>
          <p:nvPr/>
        </p:nvSpPr>
        <p:spPr bwMode="auto">
          <a:xfrm>
            <a:off x="256032" y="402336"/>
            <a:ext cx="54864" cy="1106424"/>
          </a:xfrm>
          <a:prstGeom prst="rect">
            <a:avLst/>
          </a:prstGeom>
          <a:solidFill>
            <a:srgbClr val="C98A3D"/>
          </a:solidFill>
          <a:ln/>
        </p:spPr>
      </p:sp>
      <p:sp>
        <p:nvSpPr>
          <p:cNvPr id="1231456694" name="Text 1"/>
          <p:cNvSpPr txBox="1"/>
          <p:nvPr/>
        </p:nvSpPr>
        <p:spPr bwMode="auto">
          <a:xfrm>
            <a:off x="502920" y="384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VALIDATION</a:t>
            </a:r>
            <a:endParaRPr lang="en-US" sz="1200"/>
          </a:p>
        </p:txBody>
      </p:sp>
      <p:sp>
        <p:nvSpPr>
          <p:cNvPr id="2141798528" name="Text 2"/>
          <p:cNvSpPr txBox="1"/>
          <p:nvPr/>
        </p:nvSpPr>
        <p:spPr bwMode="auto">
          <a:xfrm>
            <a:off x="457200" y="62179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300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Experimental Setup &amp; Test Cases</a:t>
            </a:r>
            <a:endParaRPr lang="en-US" sz="3000"/>
          </a:p>
        </p:txBody>
      </p:sp>
      <p:sp>
        <p:nvSpPr>
          <p:cNvPr id="1469828975" name="Shape 3"/>
          <p:cNvSpPr/>
          <p:nvPr/>
        </p:nvSpPr>
        <p:spPr bwMode="auto">
          <a:xfrm>
            <a:off x="457200" y="1508759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EEF4EE"/>
          </a:solidFill>
          <a:ln/>
          <a:effectLst>
            <a:outerShdw blurRad="76200" dist="25400" dir="5400000" sx="100000" sy="100000" kx="0" ky="0" algn="bl" rotWithShape="0">
              <a:srgbClr val="153A2B">
                <a:alpha val="12000"/>
              </a:srgbClr>
            </a:outerShdw>
          </a:effectLst>
        </p:spPr>
      </p:sp>
      <p:sp>
        <p:nvSpPr>
          <p:cNvPr id="555220893" name="Text 4"/>
          <p:cNvSpPr txBox="1"/>
          <p:nvPr/>
        </p:nvSpPr>
        <p:spPr bwMode="auto">
          <a:xfrm>
            <a:off x="685800" y="1627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 spc="50">
                <a:solidFill>
                  <a:srgbClr val="153A2B"/>
                </a:solidFill>
                <a:latin typeface="Calibri"/>
                <a:ea typeface="Calibri"/>
                <a:cs typeface="Calibri"/>
              </a:rPr>
              <a:t>DATASET</a:t>
            </a:r>
            <a:endParaRPr lang="en-US" sz="1050"/>
          </a:p>
        </p:txBody>
      </p:sp>
      <p:sp>
        <p:nvSpPr>
          <p:cNvPr id="789942082" name="Text 5"/>
          <p:cNvSpPr txBox="1"/>
          <p:nvPr/>
        </p:nvSpPr>
        <p:spPr bwMode="auto">
          <a:xfrm>
            <a:off x="685800" y="1920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53A2B"/>
                </a:solidFill>
                <a:latin typeface="Calibri"/>
                <a:ea typeface="Calibri"/>
                <a:cs typeface="Calibri"/>
              </a:rPr>
              <a:t>60 sensors</a:t>
            </a:r>
            <a:r>
              <a:rPr lang="en-US" sz="115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  across a </a:t>
            </a:r>
            <a:r>
              <a:rPr lang="en-US" sz="1500" b="1">
                <a:solidFill>
                  <a:srgbClr val="153A2B"/>
                </a:solidFill>
                <a:latin typeface="Calibri"/>
                <a:ea typeface="Calibri"/>
                <a:cs typeface="Calibri"/>
              </a:rPr>
              <a:t>100 × 100 field</a:t>
            </a:r>
            <a:r>
              <a:rPr lang="en-US" sz="110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  •  fields: ID, X, Y, soil moisture, pH, temperature, humidity, nutrient level, crop health, water availability</a:t>
            </a:r>
            <a:endParaRPr lang="en-US" sz="1500"/>
          </a:p>
        </p:txBody>
      </p:sp>
      <p:graphicFrame>
        <p:nvGraphicFramePr>
          <p:cNvPr id="2124287319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2606040"/>
          <a:ext cx="11274552" cy="356616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457200"/>
                <a:gridCol w="2148840"/>
                <a:gridCol w="2468880"/>
                <a:gridCol w="6199632"/>
              </a:tblGrid>
              <a:tr h="59436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153A2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Test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153A2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Input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153A2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Expected / Measured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153A2B"/>
                    </a:solidFill>
                  </a:tcPr>
                </a:tc>
              </a:tr>
              <a:tr h="59436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50" b="1">
                          <a:solidFill>
                            <a:srgbClr val="9C6A28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50" b="1">
                          <a:solidFill>
                            <a:srgbClr val="16241C"/>
                          </a:solidFill>
                          <a:latin typeface="Calibri"/>
                          <a:ea typeface="Calibri"/>
                          <a:cs typeface="Calibri"/>
                        </a:rPr>
                        <a:t>Point location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5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(50, 50)</a:t>
                      </a:r>
                      <a:endParaRPr lang="en-US" sz="95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5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Nearest sensor = S-25, distance = 3.162</a:t>
                      </a:r>
                      <a:endParaRPr lang="en-US" sz="95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</a:tr>
              <a:tr h="59436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50" b="1">
                          <a:solidFill>
                            <a:srgbClr val="9C6A28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50" b="1">
                          <a:solidFill>
                            <a:srgbClr val="16241C"/>
                          </a:solidFill>
                          <a:latin typeface="Calibri"/>
                          <a:ea typeface="Calibri"/>
                          <a:cs typeface="Calibri"/>
                        </a:rPr>
                        <a:t>Range query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5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X: 20–60, Y: 20–70</a:t>
                      </a:r>
                      <a:endParaRPr lang="en-US" sz="95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5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12 matching sensors, exact match vs. brute-force scan</a:t>
                      </a:r>
                      <a:endParaRPr lang="en-US" sz="95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50" b="1">
                          <a:solidFill>
                            <a:srgbClr val="9C6A28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50" b="1">
                          <a:solidFill>
                            <a:srgbClr val="16241C"/>
                          </a:solidFill>
                          <a:latin typeface="Calibri"/>
                          <a:ea typeface="Calibri"/>
                          <a:cs typeface="Calibri"/>
                        </a:rPr>
                        <a:t>Nearest sensor (nodes visited)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5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Random targets, n=200 trials</a:t>
                      </a:r>
                      <a:endParaRPr lang="en-US" sz="95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5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Avg. 8.89 of 60 nodes visited (≈85% pruned)</a:t>
                      </a:r>
                      <a:endParaRPr lang="en-US" sz="95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</a:tr>
              <a:tr h="59436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50" b="1">
                          <a:solidFill>
                            <a:srgbClr val="9C6A28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50" b="1">
                          <a:solidFill>
                            <a:srgbClr val="16241C"/>
                          </a:solidFill>
                          <a:latin typeface="Calibri"/>
                          <a:ea typeface="Calibri"/>
                          <a:cs typeface="Calibri"/>
                        </a:rPr>
                        <a:t>Moisture search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5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Target moisture = 50%</a:t>
                      </a:r>
                      <a:endParaRPr lang="en-US" sz="95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5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Main[42]=S-55(51) → North[23]=S-55(51) → South[15]=S-24(52)</a:t>
                      </a:r>
                      <a:endParaRPr lang="en-US" sz="95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50" b="1">
                          <a:solidFill>
                            <a:srgbClr val="9C6A28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50" b="1">
                          <a:solidFill>
                            <a:srgbClr val="16241C"/>
                          </a:solidFill>
                          <a:latin typeface="Calibri"/>
                          <a:ea typeface="Calibri"/>
                          <a:cs typeface="Calibri"/>
                        </a:rPr>
                        <a:t>Dynamic update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5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Add sensor(55,55) → query → remove → query</a:t>
                      </a:r>
                      <a:endParaRPr lang="en-US" sz="95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50">
                          <a:solidFill>
                            <a:srgbClr val="16241C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New sensor found post-add; reverts to S-36 post-remove</a:t>
                      </a:r>
                      <a:endParaRPr lang="en-US" sz="95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9E3D6"/>
                      </a:solidFill>
                    </a:lnL>
                    <a:lnR w="6350" algn="ctr">
                      <a:solidFill>
                        <a:srgbClr val="D9E3D6"/>
                      </a:solidFill>
                    </a:lnR>
                    <a:lnT w="6350" algn="ctr">
                      <a:solidFill>
                        <a:srgbClr val="D9E3D6"/>
                      </a:solidFill>
                    </a:lnT>
                    <a:lnB w="6350" algn="ctr">
                      <a:solidFill>
                        <a:srgbClr val="D9E3D6"/>
                      </a:solidFill>
                    </a:lnB>
                    <a:solidFill>
                      <a:srgbClr val="EEF4EE"/>
                    </a:solidFill>
                  </a:tcPr>
                </a:tc>
              </a:tr>
            </a:tbl>
          </a:graphicData>
        </a:graphic>
      </p:graphicFrame>
      <p:sp>
        <p:nvSpPr>
          <p:cNvPr id="1506441063" name="Text 7"/>
          <p:cNvSpPr txBox="1"/>
          <p:nvPr/>
        </p:nvSpPr>
        <p:spPr bwMode="auto"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655A"/>
                </a:solidFill>
                <a:latin typeface="Calibri"/>
                <a:ea typeface="Calibri"/>
                <a:cs typeface="Calibri"/>
              </a:rPr>
              <a:t>12 / 16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443751" name="Shape 0"/>
          <p:cNvSpPr/>
          <p:nvPr/>
        </p:nvSpPr>
        <p:spPr bwMode="auto">
          <a:xfrm>
            <a:off x="256032" y="402336"/>
            <a:ext cx="54864" cy="1106424"/>
          </a:xfrm>
          <a:prstGeom prst="rect">
            <a:avLst/>
          </a:prstGeom>
          <a:solidFill>
            <a:srgbClr val="C98A3D"/>
          </a:solidFill>
          <a:ln/>
        </p:spPr>
      </p:sp>
      <p:sp>
        <p:nvSpPr>
          <p:cNvPr id="741604766" name="Text 1"/>
          <p:cNvSpPr txBox="1"/>
          <p:nvPr/>
        </p:nvSpPr>
        <p:spPr bwMode="auto">
          <a:xfrm>
            <a:off x="502920" y="384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RESULTS</a:t>
            </a:r>
            <a:endParaRPr lang="en-US" sz="1200"/>
          </a:p>
        </p:txBody>
      </p:sp>
      <p:sp>
        <p:nvSpPr>
          <p:cNvPr id="1319034261" name="Text 2"/>
          <p:cNvSpPr txBox="1"/>
          <p:nvPr/>
        </p:nvSpPr>
        <p:spPr bwMode="auto">
          <a:xfrm>
            <a:off x="457200" y="62179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300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Experimental Results</a:t>
            </a:r>
            <a:endParaRPr lang="en-US" sz="3000"/>
          </a:p>
        </p:txBody>
      </p:sp>
      <p:graphicFrame>
        <p:nvGraphicFramePr>
          <p:cNvPr id="974619739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457200" y="1463040"/>
          <a:ext cx="52578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16086297" name="Chart 1" descr=""/>
          <p:cNvGraphicFramePr>
            <a:graphicFrameLocks xmlns:a="http://schemas.openxmlformats.org/drawingml/2006/main"/>
          </p:cNvGraphicFramePr>
          <p:nvPr/>
        </p:nvGraphicFramePr>
        <p:xfrm rot="0">
          <a:off x="5852160" y="1463040"/>
          <a:ext cx="52578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00910081" name="Shape 3"/>
          <p:cNvSpPr/>
          <p:nvPr/>
        </p:nvSpPr>
        <p:spPr bwMode="auto">
          <a:xfrm>
            <a:off x="457200" y="4206240"/>
            <a:ext cx="3636264" cy="1005840"/>
          </a:xfrm>
          <a:prstGeom prst="roundRect">
            <a:avLst>
              <a:gd name="adj" fmla="val 7273"/>
            </a:avLst>
          </a:prstGeom>
          <a:solidFill>
            <a:srgbClr val="0A1F15"/>
          </a:solidFill>
          <a:ln/>
        </p:spPr>
      </p:sp>
      <p:sp>
        <p:nvSpPr>
          <p:cNvPr id="1180757638" name="Text 4"/>
          <p:cNvSpPr txBox="1"/>
          <p:nvPr/>
        </p:nvSpPr>
        <p:spPr bwMode="auto">
          <a:xfrm>
            <a:off x="594360" y="4251960"/>
            <a:ext cx="3361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C98A3D"/>
                </a:solidFill>
                <a:latin typeface="Cambria"/>
                <a:ea typeface="Cambria"/>
                <a:cs typeface="Cambria"/>
              </a:rPr>
              <a:t>79×</a:t>
            </a:r>
            <a:endParaRPr lang="en-US" sz="2600"/>
          </a:p>
        </p:txBody>
      </p:sp>
      <p:sp>
        <p:nvSpPr>
          <p:cNvPr id="2065045925" name="Text 5"/>
          <p:cNvSpPr txBox="1"/>
          <p:nvPr/>
        </p:nvSpPr>
        <p:spPr bwMode="auto">
          <a:xfrm>
            <a:off x="594360" y="4773168"/>
            <a:ext cx="3361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faster nearest-sensor lookup at n = 10,000</a:t>
            </a:r>
            <a:endParaRPr lang="en-US" sz="950"/>
          </a:p>
        </p:txBody>
      </p:sp>
      <p:sp>
        <p:nvSpPr>
          <p:cNvPr id="845203074" name="Shape 6"/>
          <p:cNvSpPr/>
          <p:nvPr/>
        </p:nvSpPr>
        <p:spPr bwMode="auto">
          <a:xfrm>
            <a:off x="4276344" y="4206240"/>
            <a:ext cx="3636264" cy="1005840"/>
          </a:xfrm>
          <a:prstGeom prst="roundRect">
            <a:avLst>
              <a:gd name="adj" fmla="val 7273"/>
            </a:avLst>
          </a:prstGeom>
          <a:solidFill>
            <a:srgbClr val="0A1F15"/>
          </a:solidFill>
          <a:ln/>
        </p:spPr>
      </p:sp>
      <p:sp>
        <p:nvSpPr>
          <p:cNvPr id="762255138" name="Text 7"/>
          <p:cNvSpPr txBox="1"/>
          <p:nvPr/>
        </p:nvSpPr>
        <p:spPr bwMode="auto">
          <a:xfrm>
            <a:off x="4413504" y="4251960"/>
            <a:ext cx="3361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C98A3D"/>
                </a:solidFill>
                <a:latin typeface="Cambria"/>
                <a:ea typeface="Cambria"/>
                <a:cs typeface="Cambria"/>
              </a:rPr>
              <a:t>346×</a:t>
            </a:r>
            <a:endParaRPr lang="en-US" sz="2600"/>
          </a:p>
        </p:txBody>
      </p:sp>
      <p:sp>
        <p:nvSpPr>
          <p:cNvPr id="2060716344" name="Text 8"/>
          <p:cNvSpPr txBox="1"/>
          <p:nvPr/>
        </p:nvSpPr>
        <p:spPr bwMode="auto">
          <a:xfrm>
            <a:off x="4413504" y="4773168"/>
            <a:ext cx="3361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faster threshold search at n = 10,000</a:t>
            </a:r>
            <a:endParaRPr lang="en-US" sz="950"/>
          </a:p>
        </p:txBody>
      </p:sp>
      <p:sp>
        <p:nvSpPr>
          <p:cNvPr id="1444403565" name="Shape 9"/>
          <p:cNvSpPr/>
          <p:nvPr/>
        </p:nvSpPr>
        <p:spPr bwMode="auto">
          <a:xfrm>
            <a:off x="8095488" y="4206240"/>
            <a:ext cx="3636264" cy="1005840"/>
          </a:xfrm>
          <a:prstGeom prst="roundRect">
            <a:avLst>
              <a:gd name="adj" fmla="val 7273"/>
            </a:avLst>
          </a:prstGeom>
          <a:solidFill>
            <a:srgbClr val="0A1F15"/>
          </a:solidFill>
          <a:ln/>
        </p:spPr>
      </p:sp>
      <p:sp>
        <p:nvSpPr>
          <p:cNvPr id="758146531" name="Text 10"/>
          <p:cNvSpPr txBox="1"/>
          <p:nvPr/>
        </p:nvSpPr>
        <p:spPr bwMode="auto">
          <a:xfrm>
            <a:off x="8232648" y="4251960"/>
            <a:ext cx="3361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C98A3D"/>
                </a:solidFill>
                <a:latin typeface="Cambria"/>
                <a:ea typeface="Cambria"/>
                <a:cs typeface="Cambria"/>
              </a:rPr>
              <a:t>100%</a:t>
            </a:r>
            <a:endParaRPr lang="en-US" sz="2600"/>
          </a:p>
        </p:txBody>
      </p:sp>
      <p:sp>
        <p:nvSpPr>
          <p:cNvPr id="450934468" name="Text 11"/>
          <p:cNvSpPr txBox="1"/>
          <p:nvPr/>
        </p:nvSpPr>
        <p:spPr bwMode="auto">
          <a:xfrm>
            <a:off x="8232648" y="4773168"/>
            <a:ext cx="3361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of test cases matched the brute-force baseline</a:t>
            </a:r>
            <a:endParaRPr lang="en-US" sz="950"/>
          </a:p>
        </p:txBody>
      </p:sp>
      <p:sp>
        <p:nvSpPr>
          <p:cNvPr id="195131000" name="Text 12"/>
          <p:cNvSpPr txBox="1"/>
          <p:nvPr/>
        </p:nvSpPr>
        <p:spPr bwMode="auto">
          <a:xfrm>
            <a:off x="457200" y="53949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950" i="1">
                <a:solidFill>
                  <a:srgbClr val="51655A"/>
                </a:solidFill>
                <a:latin typeface="Calibri"/>
                <a:ea typeface="Calibri"/>
                <a:cs typeface="Calibri"/>
              </a:rPr>
              <a:t>Measured on the actual project source (KDTree, RangeIndex, FractionalCascade), cross-checked against a brute-force linear scan for correctness on every query. Range-query results (13.0× at n=10,000) and full figures are tabulated in the report.</a:t>
            </a:r>
            <a:endParaRPr lang="en-US" sz="950"/>
          </a:p>
        </p:txBody>
      </p:sp>
      <p:sp>
        <p:nvSpPr>
          <p:cNvPr id="37358269" name="Text 14"/>
          <p:cNvSpPr txBox="1"/>
          <p:nvPr/>
        </p:nvSpPr>
        <p:spPr bwMode="auto"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655A"/>
                </a:solidFill>
                <a:latin typeface="Calibri"/>
                <a:ea typeface="Calibri"/>
                <a:cs typeface="Calibri"/>
              </a:rPr>
              <a:t>13 / 16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9566715" name="Shape 0"/>
          <p:cNvSpPr/>
          <p:nvPr/>
        </p:nvSpPr>
        <p:spPr bwMode="auto">
          <a:xfrm>
            <a:off x="256032" y="402336"/>
            <a:ext cx="54864" cy="1106424"/>
          </a:xfrm>
          <a:prstGeom prst="rect">
            <a:avLst/>
          </a:prstGeom>
          <a:solidFill>
            <a:srgbClr val="C98A3D"/>
          </a:solidFill>
          <a:ln/>
        </p:spPr>
      </p:sp>
      <p:sp>
        <p:nvSpPr>
          <p:cNvPr id="1256901134" name="Text 1"/>
          <p:cNvSpPr txBox="1"/>
          <p:nvPr/>
        </p:nvSpPr>
        <p:spPr bwMode="auto">
          <a:xfrm>
            <a:off x="502920" y="384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DISCUSSION</a:t>
            </a:r>
            <a:endParaRPr lang="en-US" sz="1200"/>
          </a:p>
        </p:txBody>
      </p:sp>
      <p:sp>
        <p:nvSpPr>
          <p:cNvPr id="1260573298" name="Text 2"/>
          <p:cNvSpPr txBox="1"/>
          <p:nvPr/>
        </p:nvSpPr>
        <p:spPr bwMode="auto">
          <a:xfrm>
            <a:off x="457200" y="62179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300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Results Analysis — So What?</a:t>
            </a:r>
            <a:endParaRPr lang="en-US" sz="3000"/>
          </a:p>
        </p:txBody>
      </p:sp>
      <p:sp>
        <p:nvSpPr>
          <p:cNvPr id="266725700" name="Shape 3"/>
          <p:cNvSpPr/>
          <p:nvPr/>
        </p:nvSpPr>
        <p:spPr bwMode="auto">
          <a:xfrm>
            <a:off x="457200" y="1572768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EEF4EE"/>
          </a:solidFill>
          <a:ln/>
          <a:effectLst>
            <a:outerShdw blurRad="76200" dist="25400" dir="5400000" sx="100000" sy="100000" kx="0" ky="0" algn="bl" rotWithShape="0">
              <a:srgbClr val="153A2B">
                <a:alpha val="12000"/>
              </a:srgbClr>
            </a:outerShdw>
          </a:effectLst>
        </p:spPr>
      </p:sp>
      <p:sp>
        <p:nvSpPr>
          <p:cNvPr id="1778704712" name="Text 4"/>
          <p:cNvSpPr txBox="1"/>
          <p:nvPr/>
        </p:nvSpPr>
        <p:spPr bwMode="auto">
          <a:xfrm>
            <a:off x="640080" y="168249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15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Spatial indexing reduces unnecessary examination</a:t>
            </a:r>
            <a:endParaRPr lang="en-US" sz="1150"/>
          </a:p>
        </p:txBody>
      </p:sp>
      <p:sp>
        <p:nvSpPr>
          <p:cNvPr id="1884287165" name="Text 5"/>
          <p:cNvSpPr txBox="1"/>
          <p:nvPr/>
        </p:nvSpPr>
        <p:spPr bwMode="auto">
          <a:xfrm>
            <a:off x="640080" y="2066544"/>
            <a:ext cx="5074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At n=10,000, nearest-sensor lookup drops from 1,161 µs (linear) to 14.6 µs indexed — a 79× reduction in work per query.</a:t>
            </a:r>
            <a:endParaRPr lang="en-US" sz="1000"/>
          </a:p>
        </p:txBody>
      </p:sp>
      <p:sp>
        <p:nvSpPr>
          <p:cNvPr id="54484376" name="Shape 6"/>
          <p:cNvSpPr/>
          <p:nvPr/>
        </p:nvSpPr>
        <p:spPr bwMode="auto">
          <a:xfrm>
            <a:off x="6080760" y="1572768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BF3E7"/>
          </a:solidFill>
          <a:ln/>
          <a:effectLst>
            <a:outerShdw blurRad="76200" dist="25400" dir="5400000" sx="100000" sy="100000" kx="0" ky="0" algn="bl" rotWithShape="0">
              <a:srgbClr val="153A2B">
                <a:alpha val="12000"/>
              </a:srgbClr>
            </a:outerShdw>
          </a:effectLst>
        </p:spPr>
      </p:sp>
      <p:sp>
        <p:nvSpPr>
          <p:cNvPr id="518769534" name="Text 7"/>
          <p:cNvSpPr txBox="1"/>
          <p:nvPr/>
        </p:nvSpPr>
        <p:spPr bwMode="auto">
          <a:xfrm>
            <a:off x="6263640" y="168249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15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KD-Tree pruning avoids irrelevant branches</a:t>
            </a:r>
            <a:endParaRPr lang="en-US" sz="1150"/>
          </a:p>
        </p:txBody>
      </p:sp>
      <p:sp>
        <p:nvSpPr>
          <p:cNvPr id="1095946467" name="Text 8"/>
          <p:cNvSpPr txBox="1"/>
          <p:nvPr/>
        </p:nvSpPr>
        <p:spPr bwMode="auto">
          <a:xfrm>
            <a:off x="6263640" y="2066544"/>
            <a:ext cx="5074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Across 200 randomized queries on the real 60-sensor dataset, findNearest() visited an average of only 8.89 of 60 nodes — about 85% of the tree is pruned away per search.</a:t>
            </a:r>
            <a:endParaRPr lang="en-US" sz="1000"/>
          </a:p>
        </p:txBody>
      </p:sp>
      <p:sp>
        <p:nvSpPr>
          <p:cNvPr id="1311856906" name="Shape 9"/>
          <p:cNvSpPr/>
          <p:nvPr/>
        </p:nvSpPr>
        <p:spPr bwMode="auto">
          <a:xfrm>
            <a:off x="457200" y="3008376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EEF4EE"/>
          </a:solidFill>
          <a:ln/>
          <a:effectLst>
            <a:outerShdw blurRad="76200" dist="25400" dir="5400000" sx="100000" sy="100000" kx="0" ky="0" algn="bl" rotWithShape="0">
              <a:srgbClr val="153A2B">
                <a:alpha val="12000"/>
              </a:srgbClr>
            </a:outerShdw>
          </a:effectLst>
        </p:spPr>
      </p:sp>
      <p:sp>
        <p:nvSpPr>
          <p:cNvPr id="553939090" name="Text 10"/>
          <p:cNvSpPr txBox="1"/>
          <p:nvPr/>
        </p:nvSpPr>
        <p:spPr bwMode="auto">
          <a:xfrm>
            <a:off x="640080" y="3118104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15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Range Tree secondary catalogs cut Y-scanning</a:t>
            </a:r>
            <a:endParaRPr lang="en-US" sz="1150"/>
          </a:p>
        </p:txBody>
      </p:sp>
      <p:sp>
        <p:nvSpPr>
          <p:cNvPr id="1789031545" name="Text 11"/>
          <p:cNvSpPr txBox="1"/>
          <p:nvPr/>
        </p:nvSpPr>
        <p:spPr bwMode="auto">
          <a:xfrm>
            <a:off x="640080" y="3502152"/>
            <a:ext cx="5074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Binary search over each node's pre-sorted Y-catalog avoids re-scanning every candidate's Y-coordinate on each query, at the cost of extra build-time and storage.</a:t>
            </a:r>
            <a:endParaRPr lang="en-US" sz="1000"/>
          </a:p>
        </p:txBody>
      </p:sp>
      <p:sp>
        <p:nvSpPr>
          <p:cNvPr id="1054785032" name="Shape 12"/>
          <p:cNvSpPr/>
          <p:nvPr/>
        </p:nvSpPr>
        <p:spPr bwMode="auto">
          <a:xfrm>
            <a:off x="6080760" y="3008376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BF3E7"/>
          </a:solidFill>
          <a:ln/>
          <a:effectLst>
            <a:outerShdw blurRad="76200" dist="25400" dir="5400000" sx="100000" sy="100000" kx="0" ky="0" algn="bl" rotWithShape="0">
              <a:srgbClr val="153A2B">
                <a:alpha val="12000"/>
              </a:srgbClr>
            </a:outerShdw>
          </a:effectLst>
        </p:spPr>
      </p:sp>
      <p:sp>
        <p:nvSpPr>
          <p:cNvPr id="1959761507" name="Text 13"/>
          <p:cNvSpPr txBox="1"/>
          <p:nvPr/>
        </p:nvSpPr>
        <p:spPr bwMode="auto">
          <a:xfrm>
            <a:off x="6263640" y="3118104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15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Fractional Cascading avoids independent searches</a:t>
            </a:r>
            <a:endParaRPr lang="en-US" sz="1150"/>
          </a:p>
        </p:txBody>
      </p:sp>
      <p:sp>
        <p:nvSpPr>
          <p:cNvPr id="821446383" name="Text 14"/>
          <p:cNvSpPr txBox="1"/>
          <p:nvPr/>
        </p:nvSpPr>
        <p:spPr bwMode="auto">
          <a:xfrm>
            <a:off x="6263640" y="3502152"/>
            <a:ext cx="5074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A single binary search on the main catalog plus bridge corrections replaces three separate binary searches — reflected in its 346× speed-up at n=10,000.</a:t>
            </a:r>
            <a:endParaRPr lang="en-US" sz="1000"/>
          </a:p>
        </p:txBody>
      </p:sp>
      <p:sp>
        <p:nvSpPr>
          <p:cNvPr id="64094964" name="Shape 15"/>
          <p:cNvSpPr/>
          <p:nvPr/>
        </p:nvSpPr>
        <p:spPr bwMode="auto">
          <a:xfrm>
            <a:off x="457200" y="4443984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EEF4EE"/>
          </a:solidFill>
          <a:ln/>
          <a:effectLst>
            <a:outerShdw blurRad="76200" dist="25400" dir="5400000" sx="100000" sy="100000" kx="0" ky="0" algn="bl" rotWithShape="0">
              <a:srgbClr val="153A2B">
                <a:alpha val="12000"/>
              </a:srgbClr>
            </a:outerShdw>
          </a:effectLst>
        </p:spPr>
      </p:sp>
      <p:sp>
        <p:nvSpPr>
          <p:cNvPr id="84094766" name="Text 16"/>
          <p:cNvSpPr txBox="1"/>
          <p:nvPr/>
        </p:nvSpPr>
        <p:spPr bwMode="auto">
          <a:xfrm>
            <a:off x="640080" y="455371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15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Dynamic updates are supported via rebuild</a:t>
            </a:r>
            <a:endParaRPr lang="en-US" sz="1150"/>
          </a:p>
        </p:txBody>
      </p:sp>
      <p:sp>
        <p:nvSpPr>
          <p:cNvPr id="2144050602" name="Text 17"/>
          <p:cNvSpPr txBox="1"/>
          <p:nvPr/>
        </p:nvSpPr>
        <p:spPr bwMode="auto">
          <a:xfrm>
            <a:off x="640080" y="4937760"/>
            <a:ext cx="5074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rebuildIndexes() reconstructs all three structures after add/remove; Test 5 confirms new sensors are retrievable immediately and removed sensors disappear from every index.</a:t>
            </a:r>
            <a:endParaRPr lang="en-US" sz="1000"/>
          </a:p>
        </p:txBody>
      </p:sp>
      <p:sp>
        <p:nvSpPr>
          <p:cNvPr id="832337178" name="Shape 18"/>
          <p:cNvSpPr/>
          <p:nvPr/>
        </p:nvSpPr>
        <p:spPr bwMode="auto">
          <a:xfrm>
            <a:off x="6080760" y="4443984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BF3E7"/>
          </a:solidFill>
          <a:ln/>
          <a:effectLst>
            <a:outerShdw blurRad="76200" dist="25400" dir="5400000" sx="100000" sy="100000" kx="0" ky="0" algn="bl" rotWithShape="0">
              <a:srgbClr val="153A2B">
                <a:alpha val="12000"/>
              </a:srgbClr>
            </a:outerShdw>
          </a:effectLst>
        </p:spPr>
      </p:sp>
      <p:sp>
        <p:nvSpPr>
          <p:cNvPr id="853251321" name="Text 19"/>
          <p:cNvSpPr txBox="1"/>
          <p:nvPr/>
        </p:nvSpPr>
        <p:spPr bwMode="auto">
          <a:xfrm>
            <a:off x="6263640" y="455371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15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Performance scales as dataset size grows</a:t>
            </a:r>
            <a:endParaRPr lang="en-US" sz="1150"/>
          </a:p>
        </p:txBody>
      </p:sp>
      <p:sp>
        <p:nvSpPr>
          <p:cNvPr id="1311183601" name="Text 20"/>
          <p:cNvSpPr txBox="1"/>
          <p:nvPr/>
        </p:nvSpPr>
        <p:spPr bwMode="auto">
          <a:xfrm>
            <a:off x="6263640" y="4937760"/>
            <a:ext cx="5074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The gap between indexed and linear query time widens continuously from n=60 to n=10,000, matching the O(log n)-type vs. O(n) trends predicted on Slide 11.</a:t>
            </a:r>
            <a:endParaRPr lang="en-US" sz="1000"/>
          </a:p>
        </p:txBody>
      </p:sp>
      <p:sp>
        <p:nvSpPr>
          <p:cNvPr id="1530169943" name="Text 22"/>
          <p:cNvSpPr txBox="1"/>
          <p:nvPr/>
        </p:nvSpPr>
        <p:spPr bwMode="auto"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655A"/>
                </a:solidFill>
                <a:latin typeface="Calibri"/>
                <a:ea typeface="Calibri"/>
                <a:cs typeface="Calibri"/>
              </a:rPr>
              <a:t>14 / 16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0A1F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968139" name="Text 0"/>
          <p:cNvSpPr txBox="1"/>
          <p:nvPr/>
        </p:nvSpPr>
        <p:spPr bwMode="auto">
          <a:xfrm>
            <a:off x="502920" y="457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WRAP-UP</a:t>
            </a:r>
            <a:endParaRPr lang="en-US" sz="1200"/>
          </a:p>
        </p:txBody>
      </p:sp>
      <p:sp>
        <p:nvSpPr>
          <p:cNvPr id="1751283077" name="Text 1"/>
          <p:cNvSpPr txBox="1"/>
          <p:nvPr/>
        </p:nvSpPr>
        <p:spPr bwMode="auto">
          <a:xfrm>
            <a:off x="45720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Conclusion &amp; Future Scope</a:t>
            </a:r>
            <a:endParaRPr lang="en-US" sz="3000"/>
          </a:p>
        </p:txBody>
      </p:sp>
      <p:sp>
        <p:nvSpPr>
          <p:cNvPr id="1392639927" name="Text 2"/>
          <p:cNvSpPr txBox="1"/>
          <p:nvPr/>
        </p:nvSpPr>
        <p:spPr bwMode="auto">
          <a:xfrm>
            <a:off x="457200" y="1554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CONCLUSION</a:t>
            </a:r>
            <a:endParaRPr lang="en-US" sz="1200"/>
          </a:p>
        </p:txBody>
      </p:sp>
      <p:sp>
        <p:nvSpPr>
          <p:cNvPr id="41209347" name="Shape 3"/>
          <p:cNvSpPr/>
          <p:nvPr/>
        </p:nvSpPr>
        <p:spPr bwMode="auto">
          <a:xfrm>
            <a:off x="457200" y="1920240"/>
            <a:ext cx="365760" cy="365760"/>
          </a:xfrm>
          <a:prstGeom prst="ellipse">
            <a:avLst/>
          </a:prstGeom>
          <a:solidFill>
            <a:srgbClr val="C98A3D"/>
          </a:solidFill>
          <a:ln/>
        </p:spPr>
      </p:sp>
      <p:sp>
        <p:nvSpPr>
          <p:cNvPr id="1045919742" name="Text 4"/>
          <p:cNvSpPr txBox="1"/>
          <p:nvPr/>
        </p:nvSpPr>
        <p:spPr bwMode="auto">
          <a:xfrm>
            <a:off x="45720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400"/>
          </a:p>
        </p:txBody>
      </p:sp>
      <p:sp>
        <p:nvSpPr>
          <p:cNvPr id="654650473" name="Text 5"/>
          <p:cNvSpPr txBox="1"/>
          <p:nvPr/>
        </p:nvSpPr>
        <p:spPr bwMode="auto">
          <a:xfrm>
            <a:off x="1005840" y="190195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Developed a spatial agricultural analytics system.</a:t>
            </a:r>
            <a:endParaRPr lang="en-US" sz="1300"/>
          </a:p>
        </p:txBody>
      </p:sp>
      <p:sp>
        <p:nvSpPr>
          <p:cNvPr id="2069740635" name="Shape 6"/>
          <p:cNvSpPr/>
          <p:nvPr/>
        </p:nvSpPr>
        <p:spPr bwMode="auto">
          <a:xfrm>
            <a:off x="457200" y="2377440"/>
            <a:ext cx="365760" cy="365760"/>
          </a:xfrm>
          <a:prstGeom prst="ellipse">
            <a:avLst/>
          </a:prstGeom>
          <a:solidFill>
            <a:srgbClr val="C98A3D"/>
          </a:solidFill>
          <a:ln/>
        </p:spPr>
      </p:sp>
      <p:sp>
        <p:nvSpPr>
          <p:cNvPr id="428312885" name="Text 7"/>
          <p:cNvSpPr txBox="1"/>
          <p:nvPr/>
        </p:nvSpPr>
        <p:spPr bwMode="auto"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400"/>
          </a:p>
        </p:txBody>
      </p:sp>
      <p:sp>
        <p:nvSpPr>
          <p:cNvPr id="1776538347" name="Text 8"/>
          <p:cNvSpPr txBox="1"/>
          <p:nvPr/>
        </p:nvSpPr>
        <p:spPr bwMode="auto">
          <a:xfrm>
            <a:off x="1005840" y="235915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Integrated KD-Tree, Orthogonal Range Tree and Fractional Cascading.</a:t>
            </a:r>
            <a:endParaRPr lang="en-US" sz="1300"/>
          </a:p>
        </p:txBody>
      </p:sp>
      <p:sp>
        <p:nvSpPr>
          <p:cNvPr id="445855325" name="Shape 9"/>
          <p:cNvSpPr/>
          <p:nvPr/>
        </p:nvSpPr>
        <p:spPr bwMode="auto">
          <a:xfrm>
            <a:off x="457200" y="2834640"/>
            <a:ext cx="365760" cy="365760"/>
          </a:xfrm>
          <a:prstGeom prst="ellipse">
            <a:avLst/>
          </a:prstGeom>
          <a:solidFill>
            <a:srgbClr val="C98A3D"/>
          </a:solidFill>
          <a:ln/>
        </p:spPr>
      </p:sp>
      <p:sp>
        <p:nvSpPr>
          <p:cNvPr id="1353606045" name="Text 10"/>
          <p:cNvSpPr txBox="1"/>
          <p:nvPr/>
        </p:nvSpPr>
        <p:spPr bwMode="auto">
          <a:xfrm>
            <a:off x="45720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400"/>
          </a:p>
        </p:txBody>
      </p:sp>
      <p:sp>
        <p:nvSpPr>
          <p:cNvPr id="648906024" name="Text 11"/>
          <p:cNvSpPr txBox="1"/>
          <p:nvPr/>
        </p:nvSpPr>
        <p:spPr bwMode="auto">
          <a:xfrm>
            <a:off x="1005840" y="281635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Supported nearest, range and moisture-based searches.</a:t>
            </a:r>
            <a:endParaRPr lang="en-US" sz="1300"/>
          </a:p>
        </p:txBody>
      </p:sp>
      <p:sp>
        <p:nvSpPr>
          <p:cNvPr id="247764768" name="Shape 12"/>
          <p:cNvSpPr/>
          <p:nvPr/>
        </p:nvSpPr>
        <p:spPr bwMode="auto">
          <a:xfrm>
            <a:off x="457200" y="3291840"/>
            <a:ext cx="365760" cy="365760"/>
          </a:xfrm>
          <a:prstGeom prst="ellipse">
            <a:avLst/>
          </a:prstGeom>
          <a:solidFill>
            <a:srgbClr val="C98A3D"/>
          </a:solidFill>
          <a:ln/>
        </p:spPr>
      </p:sp>
      <p:sp>
        <p:nvSpPr>
          <p:cNvPr id="379849887" name="Text 13"/>
          <p:cNvSpPr txBox="1"/>
          <p:nvPr/>
        </p:nvSpPr>
        <p:spPr bwMode="auto">
          <a:xfrm>
            <a:off x="4572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lang="en-US" sz="1400"/>
          </a:p>
        </p:txBody>
      </p:sp>
      <p:sp>
        <p:nvSpPr>
          <p:cNvPr id="1405918178" name="Text 14"/>
          <p:cNvSpPr txBox="1"/>
          <p:nvPr/>
        </p:nvSpPr>
        <p:spPr bwMode="auto">
          <a:xfrm>
            <a:off x="1005840" y="327355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Added irrigation-zone and soil / fertilizer analysis.</a:t>
            </a:r>
            <a:endParaRPr lang="en-US" sz="1300"/>
          </a:p>
        </p:txBody>
      </p:sp>
      <p:sp>
        <p:nvSpPr>
          <p:cNvPr id="595407614" name="Shape 15"/>
          <p:cNvSpPr/>
          <p:nvPr/>
        </p:nvSpPr>
        <p:spPr bwMode="auto">
          <a:xfrm>
            <a:off x="457200" y="3749040"/>
            <a:ext cx="365760" cy="365760"/>
          </a:xfrm>
          <a:prstGeom prst="ellipse">
            <a:avLst/>
          </a:prstGeom>
          <a:solidFill>
            <a:srgbClr val="C98A3D"/>
          </a:solidFill>
          <a:ln/>
        </p:spPr>
      </p:sp>
      <p:sp>
        <p:nvSpPr>
          <p:cNvPr id="1068411939" name="Text 16"/>
          <p:cNvSpPr txBox="1"/>
          <p:nvPr/>
        </p:nvSpPr>
        <p:spPr bwMode="auto">
          <a:xfrm>
            <a:off x="45720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  <a:endParaRPr lang="en-US" sz="1400"/>
          </a:p>
        </p:txBody>
      </p:sp>
      <p:sp>
        <p:nvSpPr>
          <p:cNvPr id="1615272417" name="Text 17"/>
          <p:cNvSpPr txBox="1"/>
          <p:nvPr/>
        </p:nvSpPr>
        <p:spPr bwMode="auto">
          <a:xfrm>
            <a:off x="1005840" y="373075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Demonstrated how DSA-based indexing can support scalable agricultural analytics.</a:t>
            </a:r>
            <a:endParaRPr lang="en-US" sz="1300"/>
          </a:p>
        </p:txBody>
      </p:sp>
      <p:sp>
        <p:nvSpPr>
          <p:cNvPr id="1109262046" name="Text 18"/>
          <p:cNvSpPr txBox="1"/>
          <p:nvPr/>
        </p:nvSpPr>
        <p:spPr bwMode="auto">
          <a:xfrm>
            <a:off x="457200" y="4343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FUTURE SCOPE</a:t>
            </a:r>
            <a:endParaRPr lang="en-US" sz="1200"/>
          </a:p>
        </p:txBody>
      </p:sp>
      <p:sp>
        <p:nvSpPr>
          <p:cNvPr id="791087622" name="Shape 19"/>
          <p:cNvSpPr/>
          <p:nvPr/>
        </p:nvSpPr>
        <p:spPr bwMode="auto">
          <a:xfrm>
            <a:off x="457200" y="4663440"/>
            <a:ext cx="5440680" cy="822960"/>
          </a:xfrm>
          <a:prstGeom prst="roundRect">
            <a:avLst>
              <a:gd name="adj" fmla="val 8889"/>
            </a:avLst>
          </a:prstGeom>
          <a:solidFill>
            <a:srgbClr val="17362A"/>
          </a:solidFill>
          <a:ln/>
        </p:spPr>
      </p:sp>
      <p:sp>
        <p:nvSpPr>
          <p:cNvPr id="1810264701" name="Shape 20"/>
          <p:cNvSpPr/>
          <p:nvPr/>
        </p:nvSpPr>
        <p:spPr bwMode="auto">
          <a:xfrm>
            <a:off x="621792" y="4910328"/>
            <a:ext cx="329184" cy="329184"/>
          </a:xfrm>
          <a:prstGeom prst="ellipse">
            <a:avLst/>
          </a:prstGeom>
          <a:solidFill>
            <a:srgbClr val="6FA37D"/>
          </a:solidFill>
          <a:ln/>
        </p:spPr>
      </p:sp>
      <p:sp>
        <p:nvSpPr>
          <p:cNvPr id="2109242727" name="Text 21"/>
          <p:cNvSpPr txBox="1"/>
          <p:nvPr/>
        </p:nvSpPr>
        <p:spPr bwMode="auto">
          <a:xfrm>
            <a:off x="621792" y="4910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300"/>
          </a:p>
        </p:txBody>
      </p:sp>
      <p:sp>
        <p:nvSpPr>
          <p:cNvPr id="2092968816" name="Text 22"/>
          <p:cNvSpPr txBox="1"/>
          <p:nvPr/>
        </p:nvSpPr>
        <p:spPr bwMode="auto">
          <a:xfrm>
            <a:off x="1060704" y="4736592"/>
            <a:ext cx="46542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1050">
                <a:solidFill>
                  <a:srgbClr val="AFC9AF"/>
                </a:solidFill>
                <a:latin typeface="Calibri"/>
                <a:ea typeface="Calibri"/>
                <a:cs typeface="Calibri"/>
              </a:rPr>
              <a:t>Dynamic tree updates without full index reconstruction.</a:t>
            </a:r>
            <a:endParaRPr lang="en-US" sz="1050"/>
          </a:p>
        </p:txBody>
      </p:sp>
      <p:sp>
        <p:nvSpPr>
          <p:cNvPr id="1250532921" name="Shape 23"/>
          <p:cNvSpPr/>
          <p:nvPr/>
        </p:nvSpPr>
        <p:spPr bwMode="auto">
          <a:xfrm>
            <a:off x="6080760" y="4663440"/>
            <a:ext cx="5440680" cy="822960"/>
          </a:xfrm>
          <a:prstGeom prst="roundRect">
            <a:avLst>
              <a:gd name="adj" fmla="val 8889"/>
            </a:avLst>
          </a:prstGeom>
          <a:solidFill>
            <a:srgbClr val="17362A"/>
          </a:solidFill>
          <a:ln/>
        </p:spPr>
      </p:sp>
      <p:sp>
        <p:nvSpPr>
          <p:cNvPr id="967201197" name="Shape 24"/>
          <p:cNvSpPr/>
          <p:nvPr/>
        </p:nvSpPr>
        <p:spPr bwMode="auto">
          <a:xfrm>
            <a:off x="6245352" y="4910328"/>
            <a:ext cx="329184" cy="329184"/>
          </a:xfrm>
          <a:prstGeom prst="ellipse">
            <a:avLst/>
          </a:prstGeom>
          <a:solidFill>
            <a:srgbClr val="6FA37D"/>
          </a:solidFill>
          <a:ln/>
        </p:spPr>
      </p:sp>
      <p:sp>
        <p:nvSpPr>
          <p:cNvPr id="1260370397" name="Text 25"/>
          <p:cNvSpPr txBox="1"/>
          <p:nvPr/>
        </p:nvSpPr>
        <p:spPr bwMode="auto">
          <a:xfrm>
            <a:off x="6245352" y="4910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300"/>
          </a:p>
        </p:txBody>
      </p:sp>
      <p:sp>
        <p:nvSpPr>
          <p:cNvPr id="1599394817" name="Text 26"/>
          <p:cNvSpPr txBox="1"/>
          <p:nvPr/>
        </p:nvSpPr>
        <p:spPr bwMode="auto">
          <a:xfrm>
            <a:off x="6684264" y="4736592"/>
            <a:ext cx="46542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1050">
                <a:solidFill>
                  <a:srgbClr val="AFC9AF"/>
                </a:solidFill>
                <a:latin typeface="Calibri"/>
                <a:ea typeface="Calibri"/>
                <a:cs typeface="Calibri"/>
              </a:rPr>
              <a:t>Larger real-time sensor datasets.</a:t>
            </a:r>
            <a:endParaRPr lang="en-US" sz="1050"/>
          </a:p>
        </p:txBody>
      </p:sp>
      <p:sp>
        <p:nvSpPr>
          <p:cNvPr id="1179397121" name="Shape 27"/>
          <p:cNvSpPr/>
          <p:nvPr/>
        </p:nvSpPr>
        <p:spPr bwMode="auto">
          <a:xfrm>
            <a:off x="457200" y="5623560"/>
            <a:ext cx="5440680" cy="822960"/>
          </a:xfrm>
          <a:prstGeom prst="roundRect">
            <a:avLst>
              <a:gd name="adj" fmla="val 8889"/>
            </a:avLst>
          </a:prstGeom>
          <a:solidFill>
            <a:srgbClr val="17362A"/>
          </a:solidFill>
          <a:ln/>
        </p:spPr>
      </p:sp>
      <p:sp>
        <p:nvSpPr>
          <p:cNvPr id="808965519" name="Shape 28"/>
          <p:cNvSpPr/>
          <p:nvPr/>
        </p:nvSpPr>
        <p:spPr bwMode="auto">
          <a:xfrm>
            <a:off x="621792" y="5870448"/>
            <a:ext cx="329184" cy="329184"/>
          </a:xfrm>
          <a:prstGeom prst="ellipse">
            <a:avLst/>
          </a:prstGeom>
          <a:solidFill>
            <a:srgbClr val="6FA37D"/>
          </a:solidFill>
          <a:ln/>
        </p:spPr>
      </p:sp>
      <p:sp>
        <p:nvSpPr>
          <p:cNvPr id="1211183270" name="Text 29"/>
          <p:cNvSpPr txBox="1"/>
          <p:nvPr/>
        </p:nvSpPr>
        <p:spPr bwMode="auto">
          <a:xfrm>
            <a:off x="621792" y="5870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300"/>
          </a:p>
        </p:txBody>
      </p:sp>
      <p:sp>
        <p:nvSpPr>
          <p:cNvPr id="157110408" name="Text 30"/>
          <p:cNvSpPr txBox="1"/>
          <p:nvPr/>
        </p:nvSpPr>
        <p:spPr bwMode="auto">
          <a:xfrm>
            <a:off x="1060704" y="5696712"/>
            <a:ext cx="46542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1050">
                <a:solidFill>
                  <a:srgbClr val="AFC9AF"/>
                </a:solidFill>
                <a:latin typeface="Calibri"/>
                <a:ea typeface="Calibri"/>
                <a:cs typeface="Calibri"/>
              </a:rPr>
              <a:t>GIS / map integration and live sensor feeds.</a:t>
            </a:r>
            <a:endParaRPr lang="en-US" sz="1050"/>
          </a:p>
        </p:txBody>
      </p:sp>
      <p:sp>
        <p:nvSpPr>
          <p:cNvPr id="1187122170" name="Shape 31"/>
          <p:cNvSpPr/>
          <p:nvPr/>
        </p:nvSpPr>
        <p:spPr bwMode="auto">
          <a:xfrm>
            <a:off x="6080760" y="5623560"/>
            <a:ext cx="5440680" cy="822960"/>
          </a:xfrm>
          <a:prstGeom prst="roundRect">
            <a:avLst>
              <a:gd name="adj" fmla="val 8889"/>
            </a:avLst>
          </a:prstGeom>
          <a:solidFill>
            <a:srgbClr val="17362A"/>
          </a:solidFill>
          <a:ln/>
        </p:spPr>
      </p:sp>
      <p:sp>
        <p:nvSpPr>
          <p:cNvPr id="1197404896" name="Shape 32"/>
          <p:cNvSpPr/>
          <p:nvPr/>
        </p:nvSpPr>
        <p:spPr bwMode="auto">
          <a:xfrm>
            <a:off x="6245352" y="5870448"/>
            <a:ext cx="329184" cy="329184"/>
          </a:xfrm>
          <a:prstGeom prst="ellipse">
            <a:avLst/>
          </a:prstGeom>
          <a:solidFill>
            <a:srgbClr val="6FA37D"/>
          </a:solidFill>
          <a:ln/>
        </p:spPr>
      </p:sp>
      <p:sp>
        <p:nvSpPr>
          <p:cNvPr id="520587721" name="Text 33"/>
          <p:cNvSpPr txBox="1"/>
          <p:nvPr/>
        </p:nvSpPr>
        <p:spPr bwMode="auto">
          <a:xfrm>
            <a:off x="6245352" y="5870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lang="en-US" sz="1300"/>
          </a:p>
        </p:txBody>
      </p:sp>
      <p:sp>
        <p:nvSpPr>
          <p:cNvPr id="1841043106" name="Text 34"/>
          <p:cNvSpPr txBox="1"/>
          <p:nvPr/>
        </p:nvSpPr>
        <p:spPr bwMode="auto">
          <a:xfrm>
            <a:off x="6684264" y="5696712"/>
            <a:ext cx="46542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1050">
                <a:solidFill>
                  <a:srgbClr val="AFC9AF"/>
                </a:solidFill>
                <a:latin typeface="Calibri"/>
                <a:ea typeface="Calibri"/>
                <a:cs typeface="Calibri"/>
              </a:rPr>
              <a:t>More advanced irrigation prediction using historical data / ML.</a:t>
            </a:r>
            <a:endParaRPr lang="en-US" sz="1050"/>
          </a:p>
        </p:txBody>
      </p:sp>
      <p:sp>
        <p:nvSpPr>
          <p:cNvPr id="1997697817" name="Text 36"/>
          <p:cNvSpPr txBox="1"/>
          <p:nvPr/>
        </p:nvSpPr>
        <p:spPr bwMode="auto"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655A"/>
                </a:solidFill>
                <a:latin typeface="Calibri"/>
                <a:ea typeface="Calibri"/>
                <a:cs typeface="Calibri"/>
              </a:rPr>
              <a:t>15 / 16</a:t>
            </a:r>
            <a:endParaRPr lang="en-US" sz="900"/>
          </a:p>
        </p:txBody>
      </p:sp>
      <p:sp>
        <p:nvSpPr>
          <p:cNvPr id="925016362" name="Text 37"/>
          <p:cNvSpPr txBox="1"/>
          <p:nvPr/>
        </p:nvSpPr>
        <p:spPr bwMode="auto"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AFC9AF"/>
                </a:solidFill>
                <a:latin typeface="Calibri"/>
                <a:ea typeface="Calibri"/>
                <a:cs typeface="Calibri"/>
              </a:rPr>
              <a:t>15 / 16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4984307" name="Shape 0"/>
          <p:cNvSpPr/>
          <p:nvPr/>
        </p:nvSpPr>
        <p:spPr bwMode="auto">
          <a:xfrm>
            <a:off x="256032" y="402336"/>
            <a:ext cx="54864" cy="1106424"/>
          </a:xfrm>
          <a:prstGeom prst="rect">
            <a:avLst/>
          </a:prstGeom>
          <a:solidFill>
            <a:srgbClr val="C98A3D"/>
          </a:solidFill>
          <a:ln/>
        </p:spPr>
      </p:sp>
      <p:sp>
        <p:nvSpPr>
          <p:cNvPr id="1180568136" name="Text 1"/>
          <p:cNvSpPr txBox="1"/>
          <p:nvPr/>
        </p:nvSpPr>
        <p:spPr bwMode="auto">
          <a:xfrm>
            <a:off x="502920" y="384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C98A3D"/>
                </a:solidFill>
                <a:latin typeface="Calibri"/>
                <a:ea typeface="Calibri"/>
                <a:cs typeface="Calibri"/>
              </a:rPr>
              <a:t>SOURCES</a:t>
            </a:r>
            <a:endParaRPr lang="en-US" sz="1200"/>
          </a:p>
        </p:txBody>
      </p:sp>
      <p:sp>
        <p:nvSpPr>
          <p:cNvPr id="900585411" name="Text 2"/>
          <p:cNvSpPr txBox="1"/>
          <p:nvPr/>
        </p:nvSpPr>
        <p:spPr bwMode="auto">
          <a:xfrm>
            <a:off x="457200" y="62179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3000" b="1">
                <a:solidFill>
                  <a:srgbClr val="153A2B"/>
                </a:solidFill>
                <a:latin typeface="Cambria"/>
                <a:ea typeface="Cambria"/>
                <a:cs typeface="Cambria"/>
              </a:rPr>
              <a:t>References</a:t>
            </a:r>
            <a:endParaRPr lang="en-US" sz="3000"/>
          </a:p>
        </p:txBody>
      </p:sp>
      <p:sp>
        <p:nvSpPr>
          <p:cNvPr id="1194515174" name="Shape 3"/>
          <p:cNvSpPr/>
          <p:nvPr/>
        </p:nvSpPr>
        <p:spPr bwMode="auto">
          <a:xfrm>
            <a:off x="457200" y="169164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EEF4EE"/>
          </a:solidFill>
          <a:ln/>
        </p:spPr>
      </p:sp>
      <p:sp>
        <p:nvSpPr>
          <p:cNvPr id="1731813481" name="Shape 4"/>
          <p:cNvSpPr/>
          <p:nvPr/>
        </p:nvSpPr>
        <p:spPr bwMode="auto">
          <a:xfrm>
            <a:off x="621792" y="1792224"/>
            <a:ext cx="365760" cy="365760"/>
          </a:xfrm>
          <a:prstGeom prst="ellipse">
            <a:avLst/>
          </a:prstGeom>
          <a:solidFill>
            <a:srgbClr val="153A2B"/>
          </a:solidFill>
          <a:ln/>
        </p:spPr>
      </p:sp>
      <p:sp>
        <p:nvSpPr>
          <p:cNvPr id="1400678629" name="Text 5"/>
          <p:cNvSpPr txBox="1"/>
          <p:nvPr/>
        </p:nvSpPr>
        <p:spPr bwMode="auto">
          <a:xfrm>
            <a:off x="621792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300"/>
          </a:p>
        </p:txBody>
      </p:sp>
      <p:sp>
        <p:nvSpPr>
          <p:cNvPr id="1539612543" name="Text 6"/>
          <p:cNvSpPr txBox="1"/>
          <p:nvPr/>
        </p:nvSpPr>
        <p:spPr bwMode="auto">
          <a:xfrm>
            <a:off x="1170432" y="169164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05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Bentley, J. L. (1975). Multidimensional binary search trees used for associative searching. Communications of the ACM, 18(9), 509–517.</a:t>
            </a:r>
            <a:endParaRPr lang="en-US" sz="1050"/>
          </a:p>
        </p:txBody>
      </p:sp>
      <p:sp>
        <p:nvSpPr>
          <p:cNvPr id="1340341097" name="Shape 7"/>
          <p:cNvSpPr/>
          <p:nvPr/>
        </p:nvSpPr>
        <p:spPr bwMode="auto">
          <a:xfrm>
            <a:off x="457200" y="2313432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962862158" name="Shape 8"/>
          <p:cNvSpPr/>
          <p:nvPr/>
        </p:nvSpPr>
        <p:spPr bwMode="auto">
          <a:xfrm>
            <a:off x="621792" y="2414016"/>
            <a:ext cx="365760" cy="365760"/>
          </a:xfrm>
          <a:prstGeom prst="ellipse">
            <a:avLst/>
          </a:prstGeom>
          <a:solidFill>
            <a:srgbClr val="153A2B"/>
          </a:solidFill>
          <a:ln/>
        </p:spPr>
      </p:sp>
      <p:sp>
        <p:nvSpPr>
          <p:cNvPr id="363644493" name="Text 9"/>
          <p:cNvSpPr txBox="1"/>
          <p:nvPr/>
        </p:nvSpPr>
        <p:spPr bwMode="auto">
          <a:xfrm>
            <a:off x="621792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300"/>
          </a:p>
        </p:txBody>
      </p:sp>
      <p:sp>
        <p:nvSpPr>
          <p:cNvPr id="1021576921" name="Text 10"/>
          <p:cNvSpPr txBox="1"/>
          <p:nvPr/>
        </p:nvSpPr>
        <p:spPr bwMode="auto">
          <a:xfrm>
            <a:off x="1170432" y="231343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05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Chazelle, B., &amp; Guibas, L. J. (1986). Fractional cascading: I. A data structuring technique. Algorithmica, 1(1), 133–162.</a:t>
            </a:r>
            <a:endParaRPr lang="en-US" sz="1050"/>
          </a:p>
        </p:txBody>
      </p:sp>
      <p:sp>
        <p:nvSpPr>
          <p:cNvPr id="1421074627" name="Shape 11"/>
          <p:cNvSpPr/>
          <p:nvPr/>
        </p:nvSpPr>
        <p:spPr bwMode="auto">
          <a:xfrm>
            <a:off x="457200" y="2935224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EEF4EE"/>
          </a:solidFill>
          <a:ln/>
        </p:spPr>
      </p:sp>
      <p:sp>
        <p:nvSpPr>
          <p:cNvPr id="1040516171" name="Shape 12"/>
          <p:cNvSpPr/>
          <p:nvPr/>
        </p:nvSpPr>
        <p:spPr bwMode="auto">
          <a:xfrm>
            <a:off x="621792" y="3035808"/>
            <a:ext cx="365760" cy="365760"/>
          </a:xfrm>
          <a:prstGeom prst="ellipse">
            <a:avLst/>
          </a:prstGeom>
          <a:solidFill>
            <a:srgbClr val="153A2B"/>
          </a:solidFill>
          <a:ln/>
        </p:spPr>
      </p:sp>
      <p:sp>
        <p:nvSpPr>
          <p:cNvPr id="1882007204" name="Text 13"/>
          <p:cNvSpPr txBox="1"/>
          <p:nvPr/>
        </p:nvSpPr>
        <p:spPr bwMode="auto">
          <a:xfrm>
            <a:off x="621792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300"/>
          </a:p>
        </p:txBody>
      </p:sp>
      <p:sp>
        <p:nvSpPr>
          <p:cNvPr id="126348963" name="Text 14"/>
          <p:cNvSpPr txBox="1"/>
          <p:nvPr/>
        </p:nvSpPr>
        <p:spPr bwMode="auto">
          <a:xfrm>
            <a:off x="1170432" y="2935224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05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de Berg, M., Cheong, O., van Kreveld, M., &amp; Overmars, M. (2008). Computational Geometry: Algorithms and Applications (3rd ed.), Ch. 5 — Range Searching Trees. Springer.</a:t>
            </a:r>
            <a:endParaRPr lang="en-US" sz="1050"/>
          </a:p>
        </p:txBody>
      </p:sp>
      <p:sp>
        <p:nvSpPr>
          <p:cNvPr id="1758980507" name="Shape 15"/>
          <p:cNvSpPr/>
          <p:nvPr/>
        </p:nvSpPr>
        <p:spPr bwMode="auto">
          <a:xfrm>
            <a:off x="457200" y="3557016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861876722" name="Shape 16"/>
          <p:cNvSpPr/>
          <p:nvPr/>
        </p:nvSpPr>
        <p:spPr bwMode="auto">
          <a:xfrm>
            <a:off x="621792" y="3657600"/>
            <a:ext cx="365760" cy="365760"/>
          </a:xfrm>
          <a:prstGeom prst="ellipse">
            <a:avLst/>
          </a:prstGeom>
          <a:solidFill>
            <a:srgbClr val="153A2B"/>
          </a:solidFill>
          <a:ln/>
        </p:spPr>
      </p:sp>
      <p:sp>
        <p:nvSpPr>
          <p:cNvPr id="1290335958" name="Text 17"/>
          <p:cNvSpPr txBox="1"/>
          <p:nvPr/>
        </p:nvSpPr>
        <p:spPr bwMode="auto">
          <a:xfrm>
            <a:off x="621792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lang="en-US" sz="1300"/>
          </a:p>
        </p:txBody>
      </p:sp>
      <p:sp>
        <p:nvSpPr>
          <p:cNvPr id="1506541819" name="Text 18"/>
          <p:cNvSpPr txBox="1"/>
          <p:nvPr/>
        </p:nvSpPr>
        <p:spPr bwMode="auto">
          <a:xfrm>
            <a:off x="1170432" y="3557016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05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Cormen, T. H., Leiserson, C. E., Rivest, R. L., &amp; Stein, C. (2022). Introduction to Algorithms (4th ed.). MIT Press.</a:t>
            </a:r>
            <a:endParaRPr lang="en-US" sz="1050"/>
          </a:p>
        </p:txBody>
      </p:sp>
      <p:sp>
        <p:nvSpPr>
          <p:cNvPr id="1169037286" name="Shape 19"/>
          <p:cNvSpPr/>
          <p:nvPr/>
        </p:nvSpPr>
        <p:spPr bwMode="auto">
          <a:xfrm>
            <a:off x="457200" y="4178808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EEF4EE"/>
          </a:solidFill>
          <a:ln/>
        </p:spPr>
      </p:sp>
      <p:sp>
        <p:nvSpPr>
          <p:cNvPr id="1036055780" name="Shape 20"/>
          <p:cNvSpPr/>
          <p:nvPr/>
        </p:nvSpPr>
        <p:spPr bwMode="auto">
          <a:xfrm>
            <a:off x="621792" y="4279392"/>
            <a:ext cx="365760" cy="365760"/>
          </a:xfrm>
          <a:prstGeom prst="ellipse">
            <a:avLst/>
          </a:prstGeom>
          <a:solidFill>
            <a:srgbClr val="153A2B"/>
          </a:solidFill>
          <a:ln/>
        </p:spPr>
      </p:sp>
      <p:sp>
        <p:nvSpPr>
          <p:cNvPr id="896597269" name="Text 21"/>
          <p:cNvSpPr txBox="1"/>
          <p:nvPr/>
        </p:nvSpPr>
        <p:spPr bwMode="auto">
          <a:xfrm>
            <a:off x="621792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  <a:endParaRPr lang="en-US" sz="1300"/>
          </a:p>
        </p:txBody>
      </p:sp>
      <p:sp>
        <p:nvSpPr>
          <p:cNvPr id="928428205" name="Text 22"/>
          <p:cNvSpPr txBox="1"/>
          <p:nvPr/>
        </p:nvSpPr>
        <p:spPr bwMode="auto">
          <a:xfrm>
            <a:off x="1170432" y="4178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05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Samet, H. (2006). Foundations of Multidimensional and Metric Data Structures. Morgan Kaufmann.</a:t>
            </a:r>
            <a:endParaRPr lang="en-US" sz="1050"/>
          </a:p>
        </p:txBody>
      </p:sp>
      <p:sp>
        <p:nvSpPr>
          <p:cNvPr id="1721710186" name="Shape 23"/>
          <p:cNvSpPr/>
          <p:nvPr/>
        </p:nvSpPr>
        <p:spPr bwMode="auto">
          <a:xfrm>
            <a:off x="457200" y="480060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831008153" name="Shape 24"/>
          <p:cNvSpPr/>
          <p:nvPr/>
        </p:nvSpPr>
        <p:spPr bwMode="auto">
          <a:xfrm>
            <a:off x="621792" y="4901184"/>
            <a:ext cx="365760" cy="365760"/>
          </a:xfrm>
          <a:prstGeom prst="ellipse">
            <a:avLst/>
          </a:prstGeom>
          <a:solidFill>
            <a:srgbClr val="153A2B"/>
          </a:solidFill>
          <a:ln/>
        </p:spPr>
      </p:sp>
      <p:sp>
        <p:nvSpPr>
          <p:cNvPr id="302149614" name="Text 25"/>
          <p:cNvSpPr txBox="1"/>
          <p:nvPr/>
        </p:nvSpPr>
        <p:spPr bwMode="auto">
          <a:xfrm>
            <a:off x="621792" y="4901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  <a:endParaRPr lang="en-US" sz="1300"/>
          </a:p>
        </p:txBody>
      </p:sp>
      <p:sp>
        <p:nvSpPr>
          <p:cNvPr id="668782461" name="Text 26"/>
          <p:cNvSpPr txBox="1"/>
          <p:nvPr/>
        </p:nvSpPr>
        <p:spPr bwMode="auto">
          <a:xfrm>
            <a:off x="1170432" y="48006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05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Oracle Corporation. Java SE Platform documentation — java.util, com.sun.net.httpserver. docs.oracle.com/en/java/javase/</a:t>
            </a:r>
            <a:endParaRPr lang="en-US" sz="1050"/>
          </a:p>
        </p:txBody>
      </p:sp>
      <p:sp>
        <p:nvSpPr>
          <p:cNvPr id="779184884" name="Shape 27"/>
          <p:cNvSpPr/>
          <p:nvPr/>
        </p:nvSpPr>
        <p:spPr bwMode="auto">
          <a:xfrm>
            <a:off x="457200" y="5422392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EEF4EE"/>
          </a:solidFill>
          <a:ln/>
        </p:spPr>
      </p:sp>
      <p:sp>
        <p:nvSpPr>
          <p:cNvPr id="521783941" name="Shape 28"/>
          <p:cNvSpPr/>
          <p:nvPr/>
        </p:nvSpPr>
        <p:spPr bwMode="auto">
          <a:xfrm>
            <a:off x="621792" y="5522976"/>
            <a:ext cx="365760" cy="365760"/>
          </a:xfrm>
          <a:prstGeom prst="ellipse">
            <a:avLst/>
          </a:prstGeom>
          <a:solidFill>
            <a:srgbClr val="153A2B"/>
          </a:solidFill>
          <a:ln/>
        </p:spPr>
      </p:sp>
      <p:sp>
        <p:nvSpPr>
          <p:cNvPr id="1232847276" name="Text 29"/>
          <p:cNvSpPr txBox="1"/>
          <p:nvPr/>
        </p:nvSpPr>
        <p:spPr bwMode="auto">
          <a:xfrm>
            <a:off x="621792" y="5522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7</a:t>
            </a:r>
            <a:endParaRPr lang="en-US" sz="1300"/>
          </a:p>
        </p:txBody>
      </p:sp>
      <p:sp>
        <p:nvSpPr>
          <p:cNvPr id="2100816314" name="Text 30"/>
          <p:cNvSpPr txBox="1"/>
          <p:nvPr/>
        </p:nvSpPr>
        <p:spPr bwMode="auto">
          <a:xfrm>
            <a:off x="1170432" y="542239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050">
                <a:solidFill>
                  <a:srgbClr val="16241C"/>
                </a:solidFill>
                <a:latin typeface="Calibri"/>
                <a:ea typeface="Calibri"/>
                <a:cs typeface="Calibri"/>
              </a:rPr>
              <a:t>Project dataset: data/farm_sensors.csv — 60-record synthetic precision-agriculture sensor dataset (this project).</a:t>
            </a:r>
            <a:endParaRPr lang="en-US" sz="1050"/>
          </a:p>
        </p:txBody>
      </p:sp>
      <p:sp>
        <p:nvSpPr>
          <p:cNvPr id="1470530446" name="Text 33"/>
          <p:cNvSpPr txBox="1"/>
          <p:nvPr/>
        </p:nvSpPr>
        <p:spPr bwMode="auto"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655A"/>
                </a:solidFill>
                <a:latin typeface="Calibri"/>
                <a:ea typeface="Calibri"/>
                <a:cs typeface="Calibri"/>
              </a:rPr>
              <a:t>16 / 16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3</cp:revision>
  <dcterms:created xsi:type="dcterms:W3CDTF">2026-09-07T11:39:19Z</dcterms:created>
  <dcterms:modified xsi:type="dcterms:W3CDTF">2026-09-09T12:09:25Z</dcterms:modified>
</cp:coreProperties>
</file>